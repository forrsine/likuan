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DFA 相对 NFA 匹配加速</c:f>
              <c:strCache>
                <c:ptCount val="1"/>
                <c:pt idx="0">
                  <c:v>DFA 相对 NFA 匹配加速</c:v>
                </c:pt>
              </c:strCache>
            </c:strRef>
          </c:tx>
          <c:spPr>
            <a:solidFill>
              <a:srgbClr val="FF6B3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{"word-digits","alternation","nested-plus","identifier"}</c:f>
              <c:strCache>
                <c:ptCount val="4"/>
                <c:pt idx="0">
                  <c:v>word-digits</c:v>
                </c:pt>
                <c:pt idx="1">
                  <c:v>alternation</c:v>
                </c:pt>
                <c:pt idx="2">
                  <c:v>nested-plus</c:v>
                </c:pt>
                <c:pt idx="3">
                  <c:v>identifier</c:v>
                </c:pt>
              </c:strCache>
            </c:strRef>
          </c:cat>
          <c:val>
            <c:numRef>
              <c:f>{28.2,14.5,19.5,14.5}</c:f>
              <c:numCache>
                <c:formatCode>General</c:formatCode>
                <c:ptCount val="4"/>
                <c:pt idx="0">
                  <c:v>28.2</c:v>
                </c:pt>
                <c:pt idx="1">
                  <c:v>14.5</c:v>
                </c:pt>
                <c:pt idx="2">
                  <c:v>19.5</c:v>
                </c:pt>
                <c:pt idx="3">
                  <c:v>14.5</c:v>
                </c:pt>
              </c:numCache>
            </c:numRef>
          </c:val>
        </c:ser>
        <c:dLbls>
          <c:showLegendKey val="1"/>
          <c:showVal val="1"/>
          <c:showCatName val="1"/>
          <c:showSerName val="1"/>
          <c:showPercent val="1"/>
          <c:showBubbleSize val="1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555555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noFill/>
      </c:spPr>
    </c:plotArea>
    <c:plotVisOnly val="1"/>
    <c:dispBlanksAs val="gap"/>
    <c:showDLblsOverMax val="0"/>
    <c:extLst>
      <c:ext uri="{0b15fc19-7d7d-44ad-8c2d-2c3a37ce22c3}">
        <chartProps xmlns="https://web.wps.cn/et/2018/main" chartId="{ea032798-6311-46a0-acf4-a77a11742328}"/>
      </c:ext>
    </c:extLst>
  </c:chart>
  <c:spPr>
    <a:noFill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552450"/>
            <a:ext cx="7239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4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C17 正则表达式引擎</a:t>
            </a:r>
            <a:endParaRPr sz="4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1485900"/>
            <a:ext cx="571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4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4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4457700"/>
            <a:ext cx="6572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95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0" y="685800"/>
            <a:ext cx="3790950" cy="4953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905750" y="1123950"/>
            <a:ext cx="321945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&gt; .\scripts\demo.ps1</a:t>
            </a:r>
            <a:endParaRPr sz="16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  <a:def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mode: DFA</a:t>
            </a:r>
            <a:endParaRPr sz="16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  <a:def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match [2,8): abc123</a:t>
            </a:r>
            <a:endParaRPr sz="16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  <a:def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group 1: abc</a:t>
            </a:r>
            <a:endParaRPr sz="16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  <a:def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group 2: 123</a:t>
            </a:r>
            <a:endParaRPr sz="16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650"/>
          </a:p>
          <a:p>
            <a:pPr algn="l">
              <a:buNone/>
              <a:def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lexer → AST → NFA → MinDFA</a:t>
            </a:r>
            <a:endParaRPr sz="16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  <a:def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benchmark → DOT export</a:t>
            </a:r>
            <a:endParaRPr sz="16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1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最终汇报围绕成果闭环展开</a:t>
            </a:r>
            <a:endParaRPr sz="34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1085850"/>
            <a:ext cx="885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90525" y="1524000"/>
            <a:ext cx="114109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19621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95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314450" y="196215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题目目标</a:t>
            </a:r>
            <a:endParaRPr sz="20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733800" y="1990725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实现一个可编译、可匹配、可分析的 C17 正则引擎。</a:t>
            </a:r>
            <a:endParaRPr sz="15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57200" y="26479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95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14450" y="264795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系统设计</a:t>
            </a:r>
            <a:endParaRPr sz="20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733800" y="2676525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把正则编译为 AST、NFA、DFA 和最小化 DFA。</a:t>
            </a:r>
            <a:endParaRPr sz="15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7200" y="33337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95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14450" y="333375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开发进展</a:t>
            </a:r>
            <a:endParaRPr sz="20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733800" y="3362325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14 天计划从核心算法推进到最终演示。</a:t>
            </a:r>
            <a:endParaRPr sz="15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57200" y="40195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95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314450" y="401955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验证结果</a:t>
            </a:r>
            <a:endParaRPr sz="20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733800" y="4048125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单元、压力、一致性、DOT 和 benchmark 均已覆盖。</a:t>
            </a:r>
            <a:endParaRPr sz="15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7200" y="47053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95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314450" y="470535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现场演示</a:t>
            </a:r>
            <a:endParaRPr sz="20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733800" y="4733925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一条脚本展示匹配、dump、DOT 和性能结果。</a:t>
            </a:r>
            <a:endParaRPr sz="15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57200" y="53911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95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314450" y="539115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问题总结</a:t>
            </a:r>
            <a:endParaRPr sz="20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733800" y="5419725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说明环境、可视化和 DFA 捕获组的工程取舍。</a:t>
            </a:r>
            <a:endParaRPr sz="15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项目已经形成从输入到验证的完整链路</a:t>
            </a:r>
            <a:endParaRPr sz="34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1085850"/>
            <a:ext cx="885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最终状态不是单个函数，而是一套引擎、工具、测试和文档。</a:t>
            </a:r>
            <a:endParaRPr sz="15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90525" y="1524000"/>
            <a:ext cx="114109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2324100"/>
            <a:ext cx="1466850" cy="2000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2476500"/>
            <a:ext cx="1162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正则输入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2895600"/>
            <a:ext cx="11620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字符、转义、量词、分组、锚点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962150" y="3105150"/>
            <a:ext cx="304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2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25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362200" y="2324100"/>
            <a:ext cx="1466850" cy="2000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514600" y="2476500"/>
            <a:ext cx="1162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Lexer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514600" y="2895600"/>
            <a:ext cx="11620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拆分 token 并保留错误位置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867150" y="3105150"/>
            <a:ext cx="304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2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25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267200" y="2324100"/>
            <a:ext cx="1466850" cy="2000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419600" y="2476500"/>
            <a:ext cx="1162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206"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Parser / AST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419600" y="2895600"/>
            <a:ext cx="11620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递归下降解析优先级结构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772150" y="3105150"/>
            <a:ext cx="304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2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25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72200" y="2324100"/>
            <a:ext cx="1466850" cy="2000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324600" y="2476500"/>
            <a:ext cx="1162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65419"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Thompson NFA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24600" y="2895600"/>
            <a:ext cx="11620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epsilon 转移和状态表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677150" y="3105150"/>
            <a:ext cx="304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2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25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077200" y="2324100"/>
            <a:ext cx="1466850" cy="2000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229600" y="2476500"/>
            <a:ext cx="1162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1360"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DFA / MinDFA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229600" y="2895600"/>
            <a:ext cx="11620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子集构造与 Hopcroft 最小化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582150" y="3105150"/>
            <a:ext cx="304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2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25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982200" y="2324100"/>
            <a:ext cx="1466850" cy="2000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134600" y="2476500"/>
            <a:ext cx="1162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/ CLI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134600" y="2895600"/>
            <a:ext cx="11620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match、search、dump、bench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57200" y="510540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667"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核心结论：代码已经能在 Windows 原生环境构建、测试、运行，并保留 WSL/Linux 的 POSIX 与 sanitizer 验证入口。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十四天计划从基础实现推进到最终交付</a:t>
            </a:r>
            <a:endParaRPr sz="34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1085850"/>
            <a:ext cx="885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先搭语法和自动机主干，再补质量验证、可视化和演示材料。</a:t>
            </a:r>
            <a:endParaRPr sz="15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90525" y="1524000"/>
            <a:ext cx="114109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graphicFrame>
        <p:nvGraphicFramePr>
          <p:cNvPr id="12" name="表格 11"/>
          <p:cNvGraphicFramePr/>
          <p:nvPr/>
        </p:nvGraphicFramePr>
        <p:xfrm>
          <a:off x="457200" y="1866900"/>
          <a:ext cx="10858500" cy="3429000"/>
        </p:xfrm>
        <a:graphic>
          <a:graphicData uri="http://schemas.openxmlformats.org/drawingml/2006/table">
            <a:tbl>
              <a:tblPr/>
              <a:tblGrid>
                <a:gridCol w="1524000"/>
                <a:gridCol w="857250"/>
                <a:gridCol w="5298281"/>
                <a:gridCol w="3178969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天数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主要完成内容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交付结果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需求与骨架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1-2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题目理解、系统设计、目录结构、构建入口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设计文档、README、CMake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编译前端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3-4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lexer、字符类、转义、parser、AST、错误信息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token/AST dump 与测试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自动机核心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5-8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NFA、DFA、字符压缩、边界锚点、Hopcroft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匹配器、统一 API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质量与功能补齐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9-12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捕获组、findall、压力测试、性能、DOT 可视化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测试、benchmark、DOT 文件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收尾与答辩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13-14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缺陷复查、一键演示、最终报告和 PPT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demo.ps1、最终报告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457200" y="561975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第十四天的重点是 code freeze、最终报告、性能结论和可演示性检查。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语法前端把文本正则变成可计算结构</a:t>
            </a:r>
            <a:endParaRPr sz="34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1085850"/>
            <a:ext cx="885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lexer 和 parser 负责把用户输入转换为 AST，这是后续自动机构造的基础。</a:t>
            </a:r>
            <a:endParaRPr sz="15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1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90525" y="1524000"/>
            <a:ext cx="114109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1981200"/>
            <a:ext cx="4953000" cy="33528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2479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支持语法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30003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2914650"/>
            <a:ext cx="396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普通字符、连接、选择、分组</a:t>
            </a:r>
            <a:endParaRPr sz="15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34575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3371850"/>
            <a:ext cx="396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*, +, ?, {m}, {m,}, {m,n}</a:t>
            </a:r>
            <a:endParaRPr sz="15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9147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3829050"/>
            <a:ext cx="396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., [a-z], [^...], \d, \w, \s</a:t>
            </a:r>
            <a:endParaRPr sz="15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42950" y="43719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71550" y="4286250"/>
            <a:ext cx="396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^ 和 $ 边界锚点</a:t>
            </a:r>
            <a:endParaRPr sz="15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42950" y="48291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71550" y="4743450"/>
            <a:ext cx="396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错误位置和可读错误信息</a:t>
            </a:r>
            <a:endParaRPr sz="15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53150" y="1981200"/>
            <a:ext cx="5143500" cy="33528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38900" y="224790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 AST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38900" y="2914650"/>
            <a:ext cx="4381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432"/>
          </a:bodyPr>
          <a:lstStyle/>
          <a:p>
            <a:pPr algn="l">
              <a:buNone/>
              <a:def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([a-z]+)\d{2,4}</a:t>
            </a:r>
            <a:endParaRPr sz="16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650"/>
          </a:p>
          <a:p>
            <a:pPr algn="l">
              <a:buNone/>
              <a:def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CONCAT</a:t>
            </a:r>
            <a:endParaRPr sz="16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  <a:def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GROUP #1</a:t>
            </a:r>
            <a:endParaRPr sz="16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  <a:def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PLUS</a:t>
            </a:r>
            <a:endParaRPr sz="16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  <a:def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CLASS [a-z]</a:t>
            </a:r>
            <a:endParaRPr sz="16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  <a:def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REPEAT {2,4}</a:t>
            </a:r>
            <a:endParaRPr sz="16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  <a:def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CLASS [0-9]</a:t>
            </a:r>
            <a:endParaRPr sz="16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自动机链路决定匹配能力和性能上限</a:t>
            </a:r>
            <a:endParaRPr sz="34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1085850"/>
            <a:ext cx="885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NFA 保持构造简单，DFA 用更多编译成本换取更快的重复匹配。</a:t>
            </a:r>
            <a:endParaRPr sz="15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1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90525" y="1524000"/>
            <a:ext cx="114109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1943100"/>
            <a:ext cx="4953000" cy="36385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20980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3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NFA 路径</a:t>
            </a:r>
            <a:endParaRPr sz="23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30384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2952750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 Thompson 构造法</a:t>
            </a:r>
            <a:endParaRPr sz="165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35718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3486150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epsilon-closure 支持非确定转移</a:t>
            </a:r>
            <a:endParaRPr sz="165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41052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4019550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适合快速编译和解释执行</a:t>
            </a:r>
            <a:endParaRPr sz="165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42950" y="46386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71550" y="4552950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捕获组通过标签回填记录区间</a:t>
            </a:r>
            <a:endParaRPr sz="165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53150" y="1943100"/>
            <a:ext cx="5143500" cy="3638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38900" y="220980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3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DFA / MinDFA 路径</a:t>
            </a:r>
            <a:endParaRPr sz="23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38900" y="30384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667500" y="2952750"/>
            <a:ext cx="4057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子集构造把状态集合确定化</a:t>
            </a:r>
            <a:endParaRPr sz="165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38900" y="35718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667500" y="3486150"/>
            <a:ext cx="4057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字符等价类压缩转移表</a:t>
            </a:r>
            <a:endParaRPr sz="165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38900" y="41052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667500" y="4019550"/>
            <a:ext cx="4057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Hopcroft 合并等价状态</a:t>
            </a:r>
            <a:endParaRPr sz="165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438900" y="46386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667500" y="4552950"/>
            <a:ext cx="4057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852"/>
          </a:bodyPr>
          <a:lstStyle/>
          <a:p>
            <a:pPr algn="l">
              <a:buNone/>
              <a:def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DFA 先定位整体匹配，再由 NFA 回填捕获组</a:t>
            </a:r>
            <a:endParaRPr sz="165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和工具让引擎可以直接使用</a:t>
            </a:r>
            <a:endParaRPr sz="34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1085850"/>
            <a:ext cx="885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最终交付不只包含库，还包含调试、可视化和性能入口。</a:t>
            </a:r>
            <a:endParaRPr sz="15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1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90525" y="1524000"/>
            <a:ext cx="114109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graphicFrame>
        <p:nvGraphicFramePr>
          <p:cNvPr id="10" name="表格 9"/>
          <p:cNvGraphicFramePr/>
          <p:nvPr/>
        </p:nvGraphicFramePr>
        <p:xfrm>
          <a:off x="457200" y="1866900"/>
          <a:ext cx="10858501" cy="3714753"/>
        </p:xfrm>
        <a:graphic>
          <a:graphicData uri="http://schemas.openxmlformats.org/drawingml/2006/table">
            <a:tbl>
              <a:tblPr/>
              <a:tblGrid>
                <a:gridCol w="1428750"/>
                <a:gridCol w="4872038"/>
                <a:gridCol w="4557713"/>
              </a:tblGrid>
              <a:tr h="53067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类别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代表内容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用途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公开 API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regex_compile / search / match / findall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在 C 程序中嵌入正则能力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状态统计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regex_get_stats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读取 NFA、DFA、字符类数量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命令行匹配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rx_cli --dfa PATTERN TEXT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现场展示匹配和捕获组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结构导出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rx_dump_tokens / ast / nfa / dfa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解释编译过程和自动机结构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可视化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rx_dump_dot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导出 Graphviz DOT 文件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性能基准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rx_bench --csv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比较 NFA 与 DFA 的匹配成本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测试结果说明当前版本可以稳定运行</a:t>
            </a:r>
            <a:endParaRPr sz="34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1085850"/>
            <a:ext cx="885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13 天已完成最终回归，覆盖单元、压力、一致性和 DOT 结构验证。</a:t>
            </a:r>
            <a:endParaRPr sz="15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1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90525" y="1524000"/>
            <a:ext cx="114109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2038350"/>
            <a:ext cx="2476500" cy="2686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2286000"/>
            <a:ext cx="2019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34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3105150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测试程序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3600450"/>
            <a:ext cx="2019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lexer、parser、NFA、DFA、DOT、API、stress、conformance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333750" y="2038350"/>
            <a:ext cx="2476500" cy="2686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562350" y="2286000"/>
            <a:ext cx="2019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</a:t>
            </a:r>
            <a:endParaRPr sz="34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562350" y="3105150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一致性执行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62350" y="3600450"/>
            <a:ext cx="2019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 组模式在 NFA 和 DFA 两条路径分别执行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10300" y="2038350"/>
            <a:ext cx="2476500" cy="2686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38900" y="2286000"/>
            <a:ext cx="2019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/W4</a:t>
            </a:r>
            <a:endParaRPr sz="34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38900" y="3105150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编译检查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38900" y="3600450"/>
            <a:ext cx="2019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Windows Scope MSVC 构建通过，无新增警告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086850" y="2038350"/>
            <a:ext cx="2476500" cy="2686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315450" y="2286000"/>
            <a:ext cx="2019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34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315450" y="3105150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演示命令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315450" y="3600450"/>
            <a:ext cx="2019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demo.ps1 串起构建、dump、DOT 和 benchmark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57200" y="5334000"/>
            <a:ext cx="971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回归命令：powershell -ExecutionPolicy Bypass -File .\scripts\build-msvc.ps1 -Test</a:t>
            </a:r>
            <a:endParaRPr sz="165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性能结果显示 DFA 更适合重复匹配</a:t>
            </a:r>
            <a:endParaRPr sz="34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1085850"/>
            <a:ext cx="885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Windows Release 基准中，DFA 编译更重，但匹配阶段明显快于 NFA。</a:t>
            </a:r>
            <a:endParaRPr sz="15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1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90525" y="1524000"/>
            <a:ext cx="114109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="457200" y="1809750"/>
          <a:ext cx="66675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7791450" y="2076450"/>
            <a:ext cx="3429000" cy="25336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058150" y="234315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怎么解释这张图</a:t>
            </a:r>
            <a:endParaRPr sz="21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58150" y="31146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286750" y="3028950"/>
            <a:ext cx="2514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329"/>
          </a:bodyPr>
          <a:lstStyle/>
          <a:p>
            <a:pPr algn="l">
              <a:buNone/>
              <a:defRPr sz="14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NFA 编译轻，适合一次性短文本</a:t>
            </a:r>
            <a:endParaRPr sz="142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58150" y="359092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286750" y="3505200"/>
            <a:ext cx="2514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697"/>
          </a:bodyPr>
          <a:lstStyle/>
          <a:p>
            <a:pPr algn="l">
              <a:buNone/>
              <a:defRPr sz="14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DFA 匹配快，适合复用同一模式</a:t>
            </a:r>
            <a:endParaRPr sz="142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58150" y="40671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286750" y="3981450"/>
            <a:ext cx="2514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491"/>
          </a:bodyPr>
          <a:lstStyle/>
          <a:p>
            <a:pPr algn="l">
              <a:buNone/>
              <a:defRPr sz="14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最终报告仍标注 Windows clock() 的计时限制</a:t>
            </a:r>
            <a:endParaRPr sz="142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7200" y="581025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数据来源：docs/day11-performance-report.md，100000 次 Release 匹配。</a:t>
            </a:r>
            <a:endParaRPr sz="12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第十三天补齐了现场演示闭环</a:t>
            </a:r>
            <a:endParaRPr sz="34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1085850"/>
            <a:ext cx="885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演示脚本把主要功能串成固定顺序。</a:t>
            </a:r>
            <a:endParaRPr sz="15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1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90525" y="1524000"/>
            <a:ext cx="114109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57200" y="1885950"/>
            <a:ext cx="5048250" cy="35052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1526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一键命令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2952750"/>
            <a:ext cx="428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powershell -ExecutionPolicy Bypass \</a:t>
            </a:r>
            <a:endParaRPr sz="187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buNone/>
              <a:defRPr sz="187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-File .\scripts\demo.ps1</a:t>
            </a:r>
            <a:endParaRPr sz="1875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44196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输出目录：out/demo</a:t>
            </a:r>
            <a:endParaRPr sz="165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53150" y="1885950"/>
            <a:ext cx="5143500" cy="35052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38900" y="215265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脚本展示顺序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38900" y="294322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667500" y="2857500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DFA 搜索和捕获组</a:t>
            </a:r>
            <a:endParaRPr sz="15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38900" y="3409950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667500" y="3324225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token、AST、NFA、MinDFA dump</a:t>
            </a:r>
            <a:endParaRPr sz="15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38900" y="38766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667500" y="3790950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NFA 与 MinDFA 的 DOT 文件导出</a:t>
            </a:r>
            <a:endParaRPr sz="15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38900" y="4343400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667500" y="4257675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 和 performance.csv 生成</a:t>
            </a:r>
            <a:endParaRPr sz="15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38900" y="481012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667500" y="4724400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 Graphviz，存在时自动渲染 PNG</a:t>
            </a:r>
            <a:endParaRPr sz="157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614420" y="12172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遇到的问题都变成了明确的工程取舍</a:t>
            </a:r>
            <a:endParaRPr sz="34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1085850"/>
            <a:ext cx="885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汇报时可以重点讲原因、处理方式和当前限制。</a:t>
            </a:r>
            <a:endParaRPr sz="15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1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90525" y="1524000"/>
            <a:ext cx="114109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graphicFrame>
        <p:nvGraphicFramePr>
          <p:cNvPr id="10" name="表格 9"/>
          <p:cNvGraphicFramePr/>
          <p:nvPr/>
        </p:nvGraphicFramePr>
        <p:xfrm>
          <a:off x="457200" y="1885950"/>
          <a:ext cx="10858500" cy="3238500"/>
        </p:xfrm>
        <a:graphic>
          <a:graphicData uri="http://schemas.openxmlformats.org/drawingml/2006/table">
            <a:tbl>
              <a:tblPr/>
              <a:tblGrid>
                <a:gridCol w="3241343"/>
                <a:gridCol w="3241343"/>
                <a:gridCol w="4375813"/>
              </a:tblGrid>
              <a:tr h="6477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问题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处理方式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汇报时的说法</a:t>
                      </a:r>
                      <a:endParaRPr sz="112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Windows 缺少 CMake/GCC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新增 build-msvc.ps1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先保证本机可构建、可测试、可演示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Graphviz 未安装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先生成 .dot 文件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装好 Graphviz 后可直接渲染 PNG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DFA 不天然保存捕获路径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DFA 定位整体区间，NFA 回填捕获组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兼顾 DFA 速度和捕获组正确性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POSIX/Valgrind 依赖 Linux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CMake 保留条件入口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</a:rPr>
                        <a:t>WSL/Linux 环境中补跑正式对照</a:t>
                      </a:r>
                      <a:endParaRPr sz="1125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1038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最终交付物覆盖代码、文档、工具和演示</a:t>
            </a:r>
            <a:endParaRPr sz="34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0525" y="1085850"/>
            <a:ext cx="885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1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90525" y="1524000"/>
            <a:ext cx="114109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0859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000250"/>
            <a:ext cx="7867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354"/>
          </a:bodyPr>
          <a:lstStyle/>
          <a:p>
            <a:pPr algn="l">
              <a:buNone/>
              <a:defRPr sz="17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核心代码：charset、lexer、parser、AST、NFA、DFA、MinDFA、DOT、统一 API</a:t>
            </a:r>
            <a:endParaRPr sz="172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2590800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505075"/>
            <a:ext cx="7867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测试代码：单元测试、压力测试、一致性测试、DOT 结构测试</a:t>
            </a:r>
            <a:endParaRPr sz="172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309562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3009900"/>
            <a:ext cx="7867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命令行工具：rx_cli、rx_dump_*、rx_bench、rx_dump_dot</a:t>
            </a:r>
            <a:endParaRPr sz="172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52450" y="3600450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3514725"/>
            <a:ext cx="7867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文档材料：系统设计文档、每日进度、性能报告、审计记录、最终 PPT</a:t>
            </a:r>
            <a:endParaRPr sz="172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52450" y="4105275"/>
            <a:ext cx="85725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4019550"/>
            <a:ext cx="7867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演示材料：scripts/demo.ps1 和 out/demo 生成产物</a:t>
            </a:r>
            <a:endParaRPr sz="1725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010650" y="2038350"/>
            <a:ext cx="2305050" cy="24003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277350" y="23431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现场收尾</a:t>
            </a:r>
            <a:endParaRPr sz="21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277350" y="2990850"/>
            <a:ext cx="16192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39"/>
          </a:bodyPr>
          <a:lstStyle/>
          <a:p>
            <a:pPr algn="l">
              <a:buNone/>
              <a:def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 demo.ps1</a:t>
            </a:r>
            <a:endParaRPr sz="165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展示输出</a:t>
            </a:r>
            <a:endParaRPr sz="165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 out/demo</a:t>
            </a:r>
            <a:endParaRPr sz="165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说明限制</a:t>
            </a:r>
            <a:endParaRPr sz="165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回答问题</a:t>
            </a:r>
            <a:endParaRPr sz="165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52450" y="558165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一句话总结：这是一个已实现、已测试、可演示的教学型正则表达式引擎。</a:t>
            </a:r>
            <a:endParaRPr sz="1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390525" y="3429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成员分工</a:t>
            </a:r>
            <a:endParaRPr sz="30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0525" y="1524000"/>
            <a:ext cx="1140142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1885950"/>
            <a:ext cx="5143500" cy="3429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213360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889"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谢鑫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819400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2724150"/>
            <a:ext cx="424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负责整体工程主线与最终收尾。</a:t>
            </a:r>
            <a:endParaRPr sz="15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3371850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3276600"/>
            <a:ext cx="424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333"/>
          </a:bodyPr>
          <a:lstStyle/>
          <a:p>
            <a:pPr algn="l">
              <a:defRPr sz="1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 lexer、parser、AST、DFA、MinDFA 和统一 API。</a:t>
            </a:r>
            <a:endParaRPr sz="15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3924300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3829050"/>
            <a:ext cx="424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333"/>
          </a:bodyPr>
          <a:lstStyle/>
          <a:p>
            <a:pPr algn="l">
              <a:defRPr sz="1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补充压力测试、benchmark、DOT 可视化、Windows 构建脚本和 demo.ps1。</a:t>
            </a:r>
            <a:endParaRPr sz="15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23900" y="4476750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52500" y="4381500"/>
            <a:ext cx="424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333"/>
          </a:bodyPr>
          <a:lstStyle/>
          <a:p>
            <a:pPr algn="l">
              <a:defRPr sz="1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整理最终答辩 PPT、最终汇报材料和第 13～14 天收尾内容。</a:t>
            </a:r>
            <a:endParaRPr sz="15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72200" y="1885950"/>
            <a:ext cx="5143500" cy="34290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38900" y="213360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889"/>
          </a:bodyPr>
          <a:lstStyle/>
          <a:p>
            <a:pPr algn="l">
              <a:def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余景康</a:t>
            </a:r>
            <a:endParaRPr sz="22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38900" y="2819400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667500" y="2724150"/>
            <a:ext cx="424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补充题目设计文档和系统设计文档。</a:t>
            </a:r>
            <a:endParaRPr sz="15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38900" y="3371850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667500" y="3276600"/>
            <a:ext cx="424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333"/>
          </a:bodyPr>
          <a:lstStyle/>
          <a:p>
            <a:pPr algn="l">
              <a:defRPr sz="1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 NFA 与 matcher 逻辑拆分，支持捕获组位置返回。</a:t>
            </a:r>
            <a:endParaRPr sz="15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38900" y="3924300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667500" y="3829050"/>
            <a:ext cx="424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333"/>
          </a:bodyPr>
          <a:lstStyle/>
          <a:p>
            <a:pPr algn="l">
              <a:defRPr sz="1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补充转义序列 \D、\W、\S，维护 README 和阶段进度。</a:t>
            </a:r>
            <a:endParaRPr sz="15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38900" y="4476750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667500" y="4381500"/>
            <a:ext cx="424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333"/>
          </a:bodyPr>
          <a:lstStyle/>
          <a:p>
            <a:pPr algn="l">
              <a:defRPr sz="1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 VS Code 调试/任务环境，并更新过汇报文档与 PPT。</a:t>
            </a:r>
            <a:endParaRPr sz="15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57200" y="5638800"/>
            <a:ext cx="10858500" cy="8001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5886450"/>
            <a:ext cx="1038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833"/>
          </a:bodyPr>
          <a:lstStyle/>
          <a:p>
            <a:pPr algn="l"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共同完成：需求分析、阶段联调、功能验证、现场演示准备，以及最终答辩材料整合。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 fontScale="85556"/>
          </a:bodyPr>
          <a:lstStyle/>
          <a:p>
            <a:pPr algn="r">
              <a:def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1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3228</Words>
  <Application>WPS 演示</Application>
  <PresentationFormat>Converted Presentation</PresentationFormat>
  <Paragraphs>413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Consolas</vt:lpstr>
      <vt:lpstr>Calibri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WPS_1598188307</cp:lastModifiedBy>
  <cp:revision>2</cp:revision>
  <dcterms:created xsi:type="dcterms:W3CDTF">2026-07-09T17:24:00Z</dcterms:created>
  <dcterms:modified xsi:type="dcterms:W3CDTF">2026-07-10T05:48:39Z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3D4508FA137E4BAD8FF3A9F5893D30F6_12</vt:lpwstr>
  </property>
  <property fmtid="{D5CDD505-2E9C-101B-9397-08002B2CF9AE}" pid="3" name="KSOProductBuildVer">
    <vt:lpwstr>2052-12.1.0.26895</vt:lpwstr>
  </property>
</Properties>
</file>