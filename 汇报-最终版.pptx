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9" Type="http://schemas.openxmlformats.org/officeDocument/2006/relationships/tableStyles" Target="tableStyles.xml"/><Relationship Id="rId18" Type="http://schemas.openxmlformats.org/officeDocument/2006/relationships/viewProps" Target="viewProps.xml"/><Relationship Id="rId17" Type="http://schemas.openxmlformats.org/officeDocument/2006/relationships/presProps" Target="presProps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oleObject" Target="" TargetMode="Externa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DFA 相对 NFA 匹配加速</c:f>
              <c:strCache>
                <c:ptCount val="1"/>
                <c:pt idx="0">
                  <c:v>DFA 相对 NFA 匹配加速</c:v>
                </c:pt>
              </c:strCache>
            </c:strRef>
          </c:tx>
          <c:spPr>
            <a:solidFill>
              <a:srgbClr val="FF6B35"/>
            </a:solidFill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outEnd"/>
            <c:showLegendKey val="1"/>
            <c:showVal val="1"/>
            <c:showCatName val="1"/>
            <c:showSerName val="1"/>
            <c:showPercent val="1"/>
            <c:showBubbleSize val="1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{"word-digits","alternation","nested-plus","identifier"}</c:f>
              <c:strCache>
                <c:ptCount val="4"/>
                <c:pt idx="0">
                  <c:v>word-digits</c:v>
                </c:pt>
                <c:pt idx="1">
                  <c:v>alternation</c:v>
                </c:pt>
                <c:pt idx="2">
                  <c:v>nested-plus</c:v>
                </c:pt>
                <c:pt idx="3">
                  <c:v>identifier</c:v>
                </c:pt>
              </c:strCache>
            </c:strRef>
          </c:cat>
          <c:val>
            <c:numRef>
              <c:f>{28.2,14.5,19.5,14.5}</c:f>
              <c:numCache>
                <c:formatCode>General</c:formatCode>
                <c:ptCount val="4"/>
                <c:pt idx="0">
                  <c:v>28.2</c:v>
                </c:pt>
                <c:pt idx="1">
                  <c:v>14.5</c:v>
                </c:pt>
                <c:pt idx="2">
                  <c:v>19.5</c:v>
                </c:pt>
                <c:pt idx="3">
                  <c:v>14.5</c:v>
                </c:pt>
              </c:numCache>
            </c:numRef>
          </c:val>
        </c:ser>
        <c:dLbls>
          <c:showLegendKey val="1"/>
          <c:showVal val="1"/>
          <c:showCatName val="1"/>
          <c:showSerName val="1"/>
          <c:showPercent val="1"/>
          <c:showBubbleSize val="1"/>
        </c:dLbls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ln w="9525">
            <a:solidFill>
              <a:srgbClr val="D4D4D4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1000" b="0" i="0" u="none" strike="noStrike" kern="1200" baseline="0">
                <a:solidFill>
                  <a:srgbClr val="666666"/>
                </a:solidFill>
                <a:latin typeface="+mn-lt"/>
                <a:ea typeface="+mn-ea"/>
                <a:cs typeface="+mn-cs"/>
              </a:defRPr>
            </a:pPr>
          </a:p>
        </c:txPr>
        <c:crossAx val="48672768"/>
        <c:crosses val="autoZero"/>
        <c:auto val="1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rgbClr val="B8BCC4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1050" b="0" i="0" u="none" strike="noStrike" kern="1200" baseline="0">
                <a:solidFill>
                  <a:srgbClr val="555555"/>
                </a:solidFill>
                <a:latin typeface="+mn-lt"/>
                <a:ea typeface="+mn-ea"/>
                <a:cs typeface="+mn-cs"/>
              </a:defRPr>
            </a:pPr>
          </a:p>
        </c:txPr>
        <c:crossAx val="48650112"/>
        <c:crosses val="autoZero"/>
        <c:crossBetween val="between"/>
      </c:valAx>
      <c:spPr>
        <a:noFill/>
      </c:spPr>
    </c:plotArea>
    <c:plotVisOnly val="1"/>
    <c:dispBlanksAs val="gap"/>
    <c:showDLblsOverMax val="0"/>
    <c:extLst>
      <c:ext uri="{0b15fc19-7d7d-44ad-8c2d-2c3a37ce22c3}">
        <chartProps xmlns="https://web.wps.cn/et/2018/main" chartId="{ea032798-6311-46a0-acf4-a77a11742328}"/>
      </c:ext>
    </c:extLst>
  </c:chart>
  <c:spPr>
    <a:noFill/>
  </c:spPr>
  <c:txPr>
    <a:bodyPr/>
    <a:lstStyle/>
    <a:p>
      <a:pPr>
        <a:defRPr lang="zh-CN"/>
      </a:pPr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  <p:sp>
        <p:nvSpPr>
          <p:cNvPr id="2" name="Header Placeholder"/>
          <p:cNvSpPr/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2" Type="http://schemas.openxmlformats.org/officeDocument/2006/relationships/slideLayout" Target="../slideLayouts/slideLayout1.xml"/><Relationship Id="rId1" Type="http://schemas.openxmlformats.org/officeDocument/2006/relationships/chart" Target="../charts/char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>
            <a:spLocks noGrp="1"/>
          </p:cNvSpPr>
          <p:nvPr/>
        </p:nvSpPr>
        <p:spPr>
          <a:xfrm>
            <a:off x="390525" y="552450"/>
            <a:ext cx="723900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4800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4800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C17 正则表达式引擎</a:t>
            </a:r>
            <a:endParaRPr sz="4800" b="1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390525" y="1485900"/>
            <a:ext cx="5715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2400" b="0">
                <a:solidFill>
                  <a:srgbClr val="55555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endParaRPr sz="2400" b="0">
              <a:solidFill>
                <a:srgbClr val="55555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390525" y="4457700"/>
            <a:ext cx="657225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950" b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950" b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从正则表达式到 NFA、DFA、最小化 DFA 的完整实现，并完成测试、可视化、性能基准和现场演示脚本。</a:t>
            </a:r>
            <a:endParaRPr sz="1950" b="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7620000" y="685800"/>
            <a:ext cx="3790950" cy="4953000"/>
          </a:xfrm>
          <a:prstGeom prst="rect">
            <a:avLst/>
          </a:prstGeom>
          <a:solidFill>
            <a:srgbClr val="EDEDED"/>
          </a:solidFill>
          <a:ln w="0">
            <a:noFill/>
            <a:prstDash val="solid"/>
          </a:ln>
        </p:spPr>
      </p:sp>
      <p:sp>
        <p:nvSpPr>
          <p:cNvPr id="6" name="矩形 5"/>
          <p:cNvSpPr>
            <a:spLocks noGrp="1"/>
          </p:cNvSpPr>
          <p:nvPr/>
        </p:nvSpPr>
        <p:spPr>
          <a:xfrm>
            <a:off x="7905750" y="1123950"/>
            <a:ext cx="3219450" cy="409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650" b="0">
                <a:solidFill>
                  <a:srgbClr val="0000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650" b="0">
                <a:solidFill>
                  <a:srgbClr val="0000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&gt; .\scripts\demo.ps1</a:t>
            </a:r>
            <a:endParaRPr sz="1650" b="0">
              <a:solidFill>
                <a:srgbClr val="000000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buNone/>
              <a:defRPr sz="1650" b="0">
                <a:solidFill>
                  <a:srgbClr val="0000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650" b="0">
                <a:solidFill>
                  <a:srgbClr val="0000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mode: DFA</a:t>
            </a:r>
            <a:endParaRPr sz="1650" b="0">
              <a:solidFill>
                <a:srgbClr val="000000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buNone/>
              <a:defRPr sz="1650" b="0">
                <a:solidFill>
                  <a:srgbClr val="0000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650" b="0">
                <a:solidFill>
                  <a:srgbClr val="0000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match [2,8): abc123</a:t>
            </a:r>
            <a:endParaRPr sz="1650" b="0">
              <a:solidFill>
                <a:srgbClr val="000000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buNone/>
              <a:defRPr sz="1650" b="0">
                <a:solidFill>
                  <a:srgbClr val="0000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650" b="0">
                <a:solidFill>
                  <a:srgbClr val="0000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group 1: abc</a:t>
            </a:r>
            <a:endParaRPr sz="1650" b="0">
              <a:solidFill>
                <a:srgbClr val="000000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buNone/>
              <a:defRPr sz="1650" b="0">
                <a:solidFill>
                  <a:srgbClr val="0000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650" b="0">
                <a:solidFill>
                  <a:srgbClr val="0000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group 2: 123</a:t>
            </a:r>
            <a:endParaRPr sz="1650" b="0">
              <a:solidFill>
                <a:srgbClr val="000000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endParaRPr sz="1650"/>
          </a:p>
          <a:p>
            <a:pPr algn="l">
              <a:buNone/>
              <a:defRPr sz="1650" b="0">
                <a:solidFill>
                  <a:srgbClr val="0000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650" b="0">
                <a:solidFill>
                  <a:srgbClr val="0000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lexer → AST → NFA → MinDFA</a:t>
            </a:r>
            <a:endParaRPr sz="1650" b="0">
              <a:solidFill>
                <a:srgbClr val="000000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buNone/>
              <a:defRPr sz="1650" b="0">
                <a:solidFill>
                  <a:srgbClr val="0000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650" b="0">
                <a:solidFill>
                  <a:srgbClr val="0000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benchmark → DOT export</a:t>
            </a:r>
            <a:endParaRPr sz="1650" b="0">
              <a:solidFill>
                <a:srgbClr val="000000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11277600" y="6276975"/>
            <a:ext cx="5143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b">
            <a:normAutofit/>
          </a:bodyPr>
          <a:lstStyle/>
          <a:p>
            <a:pPr algn="r">
              <a:buNone/>
              <a:defRPr sz="1125" b="0">
                <a:solidFill>
                  <a:srgbClr val="55555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0">
                <a:solidFill>
                  <a:srgbClr val="55555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01</a:t>
            </a:r>
            <a:endParaRPr sz="1125" b="0">
              <a:solidFill>
                <a:srgbClr val="55555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>
            <a:spLocks noGrp="1"/>
          </p:cNvSpPr>
          <p:nvPr/>
        </p:nvSpPr>
        <p:spPr>
          <a:xfrm>
            <a:off x="390525" y="342900"/>
            <a:ext cx="1038225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3450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3450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最终汇报围绕成果闭环展开</a:t>
            </a:r>
            <a:endParaRPr sz="3450" b="1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390525" y="1085850"/>
            <a:ext cx="88582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575" b="0">
                <a:solidFill>
                  <a:srgbClr val="55555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75" b="0">
                <a:solidFill>
                  <a:srgbClr val="55555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先说明题目，再讲实现路径，最后用测试和演示证明它能跑。</a:t>
            </a:r>
            <a:endParaRPr sz="1575" b="0">
              <a:solidFill>
                <a:srgbClr val="55555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11277600" y="6276975"/>
            <a:ext cx="5143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b">
            <a:normAutofit/>
          </a:bodyPr>
          <a:lstStyle/>
          <a:p>
            <a:pPr algn="r">
              <a:buNone/>
              <a:defRPr sz="1125" b="0">
                <a:solidFill>
                  <a:srgbClr val="55555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0">
                <a:solidFill>
                  <a:srgbClr val="55555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02</a:t>
            </a:r>
            <a:endParaRPr sz="1125" b="0">
              <a:solidFill>
                <a:srgbClr val="55555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390525" y="1524000"/>
            <a:ext cx="11410950" cy="9525"/>
          </a:xfrm>
          <a:prstGeom prst="rect">
            <a:avLst/>
          </a:prstGeom>
          <a:solidFill>
            <a:srgbClr val="B8BCC4"/>
          </a:solidFill>
          <a:ln w="0">
            <a:noFill/>
            <a:prstDash val="solid"/>
          </a:ln>
        </p:spPr>
      </p:sp>
      <p:sp>
        <p:nvSpPr>
          <p:cNvPr id="6" name="矩形 5"/>
          <p:cNvSpPr>
            <a:spLocks noGrp="1"/>
          </p:cNvSpPr>
          <p:nvPr/>
        </p:nvSpPr>
        <p:spPr>
          <a:xfrm>
            <a:off x="457200" y="1962150"/>
            <a:ext cx="666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950" b="1">
                <a:solidFill>
                  <a:srgbClr val="FF6B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950" b="1">
                <a:solidFill>
                  <a:srgbClr val="FF6B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01</a:t>
            </a:r>
            <a:endParaRPr sz="1950" b="1">
              <a:solidFill>
                <a:srgbClr val="FF6B3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1314450" y="1962150"/>
            <a:ext cx="2190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2025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025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题目目标</a:t>
            </a:r>
            <a:endParaRPr sz="2025" b="1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3733800" y="1990725"/>
            <a:ext cx="72390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575" b="0">
                <a:solidFill>
                  <a:srgbClr val="55555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75" b="0">
                <a:solidFill>
                  <a:srgbClr val="55555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实现一个可编译、可匹配、可分析的 C17 正则引擎。</a:t>
            </a:r>
            <a:endParaRPr sz="1575" b="0">
              <a:solidFill>
                <a:srgbClr val="55555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457200" y="2647950"/>
            <a:ext cx="666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950" b="1">
                <a:solidFill>
                  <a:srgbClr val="FF6B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950" b="1">
                <a:solidFill>
                  <a:srgbClr val="FF6B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02</a:t>
            </a:r>
            <a:endParaRPr sz="1950" b="1">
              <a:solidFill>
                <a:srgbClr val="FF6B3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1314450" y="2647950"/>
            <a:ext cx="2190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2025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025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系统设计</a:t>
            </a:r>
            <a:endParaRPr sz="2025" b="1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3733800" y="2676525"/>
            <a:ext cx="72390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575" b="0">
                <a:solidFill>
                  <a:srgbClr val="55555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75" b="0">
                <a:solidFill>
                  <a:srgbClr val="55555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把正则编译为 AST、NFA、DFA 和最小化 DFA。</a:t>
            </a:r>
            <a:endParaRPr sz="1575" b="0">
              <a:solidFill>
                <a:srgbClr val="55555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457200" y="3333750"/>
            <a:ext cx="666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950" b="1">
                <a:solidFill>
                  <a:srgbClr val="FF6B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950" b="1">
                <a:solidFill>
                  <a:srgbClr val="FF6B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03</a:t>
            </a:r>
            <a:endParaRPr sz="1950" b="1">
              <a:solidFill>
                <a:srgbClr val="FF6B3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1314450" y="3333750"/>
            <a:ext cx="2190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2025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025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开发进展</a:t>
            </a:r>
            <a:endParaRPr sz="2025" b="1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3733800" y="3362325"/>
            <a:ext cx="72390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575" b="0">
                <a:solidFill>
                  <a:srgbClr val="55555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75" b="0">
                <a:solidFill>
                  <a:srgbClr val="55555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按 14 天计划从核心算法推进到最终演示。</a:t>
            </a:r>
            <a:endParaRPr sz="1575" b="0">
              <a:solidFill>
                <a:srgbClr val="55555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5" name="矩形 14"/>
          <p:cNvSpPr>
            <a:spLocks noGrp="1"/>
          </p:cNvSpPr>
          <p:nvPr/>
        </p:nvSpPr>
        <p:spPr>
          <a:xfrm>
            <a:off x="457200" y="4019550"/>
            <a:ext cx="666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950" b="1">
                <a:solidFill>
                  <a:srgbClr val="FF6B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950" b="1">
                <a:solidFill>
                  <a:srgbClr val="FF6B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04</a:t>
            </a:r>
            <a:endParaRPr sz="1950" b="1">
              <a:solidFill>
                <a:srgbClr val="FF6B3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1314450" y="4019550"/>
            <a:ext cx="2190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2025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025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验证结果</a:t>
            </a:r>
            <a:endParaRPr sz="2025" b="1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3733800" y="4048125"/>
            <a:ext cx="72390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575" b="0">
                <a:solidFill>
                  <a:srgbClr val="55555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75" b="0">
                <a:solidFill>
                  <a:srgbClr val="55555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单元、压力、一致性、DOT 和 benchmark 均已覆盖。</a:t>
            </a:r>
            <a:endParaRPr sz="1575" b="0">
              <a:solidFill>
                <a:srgbClr val="55555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8" name="矩形 17"/>
          <p:cNvSpPr>
            <a:spLocks noGrp="1"/>
          </p:cNvSpPr>
          <p:nvPr/>
        </p:nvSpPr>
        <p:spPr>
          <a:xfrm>
            <a:off x="457200" y="4705350"/>
            <a:ext cx="666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950" b="1">
                <a:solidFill>
                  <a:srgbClr val="FF6B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950" b="1">
                <a:solidFill>
                  <a:srgbClr val="FF6B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05</a:t>
            </a:r>
            <a:endParaRPr sz="1950" b="1">
              <a:solidFill>
                <a:srgbClr val="FF6B3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9" name="矩形 18"/>
          <p:cNvSpPr>
            <a:spLocks noGrp="1"/>
          </p:cNvSpPr>
          <p:nvPr/>
        </p:nvSpPr>
        <p:spPr>
          <a:xfrm>
            <a:off x="1314450" y="4705350"/>
            <a:ext cx="2190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2025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025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现场演示</a:t>
            </a:r>
            <a:endParaRPr sz="2025" b="1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0" name="矩形 19"/>
          <p:cNvSpPr>
            <a:spLocks noGrp="1"/>
          </p:cNvSpPr>
          <p:nvPr/>
        </p:nvSpPr>
        <p:spPr>
          <a:xfrm>
            <a:off x="3733800" y="4733925"/>
            <a:ext cx="72390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575" b="0">
                <a:solidFill>
                  <a:srgbClr val="55555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75" b="0">
                <a:solidFill>
                  <a:srgbClr val="55555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一条脚本展示匹配、dump、DOT 和性能结果。</a:t>
            </a:r>
            <a:endParaRPr sz="1575" b="0">
              <a:solidFill>
                <a:srgbClr val="55555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1" name="矩形 20"/>
          <p:cNvSpPr>
            <a:spLocks noGrp="1"/>
          </p:cNvSpPr>
          <p:nvPr/>
        </p:nvSpPr>
        <p:spPr>
          <a:xfrm>
            <a:off x="457200" y="5391150"/>
            <a:ext cx="666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950" b="1">
                <a:solidFill>
                  <a:srgbClr val="FF6B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950" b="1">
                <a:solidFill>
                  <a:srgbClr val="FF6B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06</a:t>
            </a:r>
            <a:endParaRPr sz="1950" b="1">
              <a:solidFill>
                <a:srgbClr val="FF6B3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2" name="矩形 21"/>
          <p:cNvSpPr>
            <a:spLocks noGrp="1"/>
          </p:cNvSpPr>
          <p:nvPr/>
        </p:nvSpPr>
        <p:spPr>
          <a:xfrm>
            <a:off x="1314450" y="5391150"/>
            <a:ext cx="2190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2025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025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问题总结</a:t>
            </a:r>
            <a:endParaRPr sz="2025" b="1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3" name="矩形 22"/>
          <p:cNvSpPr>
            <a:spLocks noGrp="1"/>
          </p:cNvSpPr>
          <p:nvPr/>
        </p:nvSpPr>
        <p:spPr>
          <a:xfrm>
            <a:off x="3733800" y="5419725"/>
            <a:ext cx="72390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575" b="0">
                <a:solidFill>
                  <a:srgbClr val="55555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75" b="0">
                <a:solidFill>
                  <a:srgbClr val="55555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说明环境、可视化和 DFA 捕获组的工程取舍。</a:t>
            </a:r>
            <a:endParaRPr sz="1575" b="0">
              <a:solidFill>
                <a:srgbClr val="55555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>
            <a:spLocks noGrp="1"/>
          </p:cNvSpPr>
          <p:nvPr/>
        </p:nvSpPr>
        <p:spPr>
          <a:xfrm>
            <a:off x="390525" y="342900"/>
            <a:ext cx="1038225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3450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3450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项目已经形成从输入到验证的完整链路</a:t>
            </a:r>
            <a:endParaRPr sz="3450" b="1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390525" y="1085850"/>
            <a:ext cx="88582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575" b="0">
                <a:solidFill>
                  <a:srgbClr val="55555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75" b="0">
                <a:solidFill>
                  <a:srgbClr val="55555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最终状态不是单个函数，而是一套引擎、工具、测试和文档。</a:t>
            </a:r>
            <a:endParaRPr sz="1575" b="0">
              <a:solidFill>
                <a:srgbClr val="55555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11277600" y="6276975"/>
            <a:ext cx="5143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b">
            <a:normAutofit/>
          </a:bodyPr>
          <a:lstStyle/>
          <a:p>
            <a:pPr algn="r">
              <a:buNone/>
              <a:defRPr sz="1125" b="0">
                <a:solidFill>
                  <a:srgbClr val="55555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0">
                <a:solidFill>
                  <a:srgbClr val="55555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03</a:t>
            </a:r>
            <a:endParaRPr sz="1125" b="0">
              <a:solidFill>
                <a:srgbClr val="55555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390525" y="1524000"/>
            <a:ext cx="11410950" cy="9525"/>
          </a:xfrm>
          <a:prstGeom prst="rect">
            <a:avLst/>
          </a:prstGeom>
          <a:solidFill>
            <a:srgbClr val="B8BCC4"/>
          </a:solidFill>
          <a:ln w="0">
            <a:noFill/>
            <a:prstDash val="solid"/>
          </a:ln>
        </p:spPr>
      </p:sp>
      <p:sp>
        <p:nvSpPr>
          <p:cNvPr id="6" name="矩形 5"/>
          <p:cNvSpPr>
            <a:spLocks noGrp="1"/>
          </p:cNvSpPr>
          <p:nvPr/>
        </p:nvSpPr>
        <p:spPr>
          <a:xfrm>
            <a:off x="457200" y="2324100"/>
            <a:ext cx="1466850" cy="2000250"/>
          </a:xfrm>
          <a:prstGeom prst="rect">
            <a:avLst/>
          </a:prstGeom>
          <a:solidFill>
            <a:srgbClr val="EDEDED"/>
          </a:solidFill>
          <a:ln w="0">
            <a:noFill/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609600" y="2476500"/>
            <a:ext cx="11620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800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00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正则输入</a:t>
            </a:r>
            <a:endParaRPr sz="1800" b="1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609600" y="2895600"/>
            <a:ext cx="1162050" cy="1276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275" b="0">
                <a:solidFill>
                  <a:srgbClr val="55555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0">
                <a:solidFill>
                  <a:srgbClr val="55555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字符、转义、量词、分组、锚点</a:t>
            </a:r>
            <a:endParaRPr sz="1275" b="0">
              <a:solidFill>
                <a:srgbClr val="55555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1962150" y="3105150"/>
            <a:ext cx="3048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buNone/>
              <a:defRPr sz="2250" b="1">
                <a:solidFill>
                  <a:srgbClr val="FF6B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250" b="1">
                <a:solidFill>
                  <a:srgbClr val="FF6B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→</a:t>
            </a:r>
            <a:endParaRPr sz="2250" b="1">
              <a:solidFill>
                <a:srgbClr val="FF6B3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2362200" y="2324100"/>
            <a:ext cx="1466850" cy="2000250"/>
          </a:xfrm>
          <a:prstGeom prst="rect">
            <a:avLst/>
          </a:prstGeom>
          <a:solidFill>
            <a:srgbClr val="EDEDED"/>
          </a:solidFill>
          <a:ln w="0">
            <a:noFill/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2514600" y="2476500"/>
            <a:ext cx="11620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800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00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Lexer</a:t>
            </a:r>
            <a:endParaRPr sz="1800" b="1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2514600" y="2895600"/>
            <a:ext cx="1162050" cy="1276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275" b="0">
                <a:solidFill>
                  <a:srgbClr val="55555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0">
                <a:solidFill>
                  <a:srgbClr val="55555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拆分 token 并保留错误位置</a:t>
            </a:r>
            <a:endParaRPr sz="1275" b="0">
              <a:solidFill>
                <a:srgbClr val="55555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3867150" y="3105150"/>
            <a:ext cx="3048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buNone/>
              <a:defRPr sz="2250" b="1">
                <a:solidFill>
                  <a:srgbClr val="FF6B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250" b="1">
                <a:solidFill>
                  <a:srgbClr val="FF6B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→</a:t>
            </a:r>
            <a:endParaRPr sz="2250" b="1">
              <a:solidFill>
                <a:srgbClr val="FF6B3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4267200" y="2324100"/>
            <a:ext cx="1466850" cy="2000250"/>
          </a:xfrm>
          <a:prstGeom prst="rect">
            <a:avLst/>
          </a:prstGeom>
          <a:solidFill>
            <a:srgbClr val="EDEDED"/>
          </a:solidFill>
          <a:ln w="0">
            <a:noFill/>
            <a:prstDash val="solid"/>
          </a:ln>
        </p:spPr>
      </p:sp>
      <p:sp>
        <p:nvSpPr>
          <p:cNvPr id="15" name="矩形 14"/>
          <p:cNvSpPr>
            <a:spLocks noGrp="1"/>
          </p:cNvSpPr>
          <p:nvPr/>
        </p:nvSpPr>
        <p:spPr>
          <a:xfrm>
            <a:off x="4419600" y="2476500"/>
            <a:ext cx="11620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2206"/>
          </a:bodyPr>
          <a:lstStyle/>
          <a:p>
            <a:pPr algn="l">
              <a:buNone/>
              <a:defRPr sz="1800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00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Parser / AST</a:t>
            </a:r>
            <a:endParaRPr sz="1800" b="1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4419600" y="2895600"/>
            <a:ext cx="1162050" cy="1276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275" b="0">
                <a:solidFill>
                  <a:srgbClr val="55555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0">
                <a:solidFill>
                  <a:srgbClr val="55555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递归下降解析优先级结构</a:t>
            </a:r>
            <a:endParaRPr sz="1275" b="0">
              <a:solidFill>
                <a:srgbClr val="55555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5772150" y="3105150"/>
            <a:ext cx="3048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buNone/>
              <a:defRPr sz="2250" b="1">
                <a:solidFill>
                  <a:srgbClr val="FF6B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250" b="1">
                <a:solidFill>
                  <a:srgbClr val="FF6B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→</a:t>
            </a:r>
            <a:endParaRPr sz="2250" b="1">
              <a:solidFill>
                <a:srgbClr val="FF6B3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8" name="矩形 17"/>
          <p:cNvSpPr>
            <a:spLocks noGrp="1"/>
          </p:cNvSpPr>
          <p:nvPr/>
        </p:nvSpPr>
        <p:spPr>
          <a:xfrm>
            <a:off x="6172200" y="2324100"/>
            <a:ext cx="1466850" cy="2000250"/>
          </a:xfrm>
          <a:prstGeom prst="rect">
            <a:avLst/>
          </a:prstGeom>
          <a:solidFill>
            <a:srgbClr val="EDEDED"/>
          </a:solidFill>
          <a:ln w="0">
            <a:noFill/>
            <a:prstDash val="solid"/>
          </a:ln>
        </p:spPr>
      </p:sp>
      <p:sp>
        <p:nvSpPr>
          <p:cNvPr id="19" name="矩形 18"/>
          <p:cNvSpPr>
            <a:spLocks noGrp="1"/>
          </p:cNvSpPr>
          <p:nvPr/>
        </p:nvSpPr>
        <p:spPr>
          <a:xfrm>
            <a:off x="6324600" y="2476500"/>
            <a:ext cx="11620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65419"/>
          </a:bodyPr>
          <a:lstStyle/>
          <a:p>
            <a:pPr algn="l">
              <a:buNone/>
              <a:defRPr sz="1800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00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Thompson NFA</a:t>
            </a:r>
            <a:endParaRPr sz="1800" b="1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0" name="矩形 19"/>
          <p:cNvSpPr>
            <a:spLocks noGrp="1"/>
          </p:cNvSpPr>
          <p:nvPr/>
        </p:nvSpPr>
        <p:spPr>
          <a:xfrm>
            <a:off x="6324600" y="2895600"/>
            <a:ext cx="1162050" cy="1276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275" b="0">
                <a:solidFill>
                  <a:srgbClr val="55555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0">
                <a:solidFill>
                  <a:srgbClr val="55555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epsilon 转移和状态表</a:t>
            </a:r>
            <a:endParaRPr sz="1275" b="0">
              <a:solidFill>
                <a:srgbClr val="55555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1" name="矩形 20"/>
          <p:cNvSpPr>
            <a:spLocks noGrp="1"/>
          </p:cNvSpPr>
          <p:nvPr/>
        </p:nvSpPr>
        <p:spPr>
          <a:xfrm>
            <a:off x="7677150" y="3105150"/>
            <a:ext cx="3048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buNone/>
              <a:defRPr sz="2250" b="1">
                <a:solidFill>
                  <a:srgbClr val="FF6B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250" b="1">
                <a:solidFill>
                  <a:srgbClr val="FF6B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→</a:t>
            </a:r>
            <a:endParaRPr sz="2250" b="1">
              <a:solidFill>
                <a:srgbClr val="FF6B3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2" name="矩形 21"/>
          <p:cNvSpPr>
            <a:spLocks noGrp="1"/>
          </p:cNvSpPr>
          <p:nvPr/>
        </p:nvSpPr>
        <p:spPr>
          <a:xfrm>
            <a:off x="8077200" y="2324100"/>
            <a:ext cx="1466850" cy="2000250"/>
          </a:xfrm>
          <a:prstGeom prst="rect">
            <a:avLst/>
          </a:prstGeom>
          <a:solidFill>
            <a:srgbClr val="EDEDED"/>
          </a:solidFill>
          <a:ln w="0">
            <a:noFill/>
            <a:prstDash val="solid"/>
          </a:ln>
        </p:spPr>
      </p:sp>
      <p:sp>
        <p:nvSpPr>
          <p:cNvPr id="23" name="矩形 22"/>
          <p:cNvSpPr>
            <a:spLocks noGrp="1"/>
          </p:cNvSpPr>
          <p:nvPr/>
        </p:nvSpPr>
        <p:spPr>
          <a:xfrm>
            <a:off x="8229600" y="2476500"/>
            <a:ext cx="11620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71360"/>
          </a:bodyPr>
          <a:lstStyle/>
          <a:p>
            <a:pPr algn="l">
              <a:buNone/>
              <a:defRPr sz="1800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00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DFA / MinDFA</a:t>
            </a:r>
            <a:endParaRPr sz="1800" b="1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4" name="矩形 23"/>
          <p:cNvSpPr>
            <a:spLocks noGrp="1"/>
          </p:cNvSpPr>
          <p:nvPr/>
        </p:nvSpPr>
        <p:spPr>
          <a:xfrm>
            <a:off x="8229600" y="2895600"/>
            <a:ext cx="1162050" cy="1276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275" b="0">
                <a:solidFill>
                  <a:srgbClr val="55555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0">
                <a:solidFill>
                  <a:srgbClr val="55555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子集构造与 Hopcroft 最小化</a:t>
            </a:r>
            <a:endParaRPr sz="1275" b="0">
              <a:solidFill>
                <a:srgbClr val="55555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5" name="矩形 24"/>
          <p:cNvSpPr>
            <a:spLocks noGrp="1"/>
          </p:cNvSpPr>
          <p:nvPr/>
        </p:nvSpPr>
        <p:spPr>
          <a:xfrm>
            <a:off x="9582150" y="3105150"/>
            <a:ext cx="3048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buNone/>
              <a:defRPr sz="2250" b="1">
                <a:solidFill>
                  <a:srgbClr val="FF6B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250" b="1">
                <a:solidFill>
                  <a:srgbClr val="FF6B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→</a:t>
            </a:r>
            <a:endParaRPr sz="2250" b="1">
              <a:solidFill>
                <a:srgbClr val="FF6B3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6" name="矩形 25"/>
          <p:cNvSpPr>
            <a:spLocks noGrp="1"/>
          </p:cNvSpPr>
          <p:nvPr/>
        </p:nvSpPr>
        <p:spPr>
          <a:xfrm>
            <a:off x="9982200" y="2324100"/>
            <a:ext cx="1466850" cy="2000250"/>
          </a:xfrm>
          <a:prstGeom prst="rect">
            <a:avLst/>
          </a:prstGeom>
          <a:solidFill>
            <a:srgbClr val="EDEDED"/>
          </a:solidFill>
          <a:ln w="0">
            <a:noFill/>
            <a:prstDash val="solid"/>
          </a:ln>
        </p:spPr>
      </p:sp>
      <p:sp>
        <p:nvSpPr>
          <p:cNvPr id="27" name="矩形 26"/>
          <p:cNvSpPr>
            <a:spLocks noGrp="1"/>
          </p:cNvSpPr>
          <p:nvPr/>
        </p:nvSpPr>
        <p:spPr>
          <a:xfrm>
            <a:off x="10134600" y="2476500"/>
            <a:ext cx="11620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800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00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API / CLI</a:t>
            </a:r>
            <a:endParaRPr sz="1800" b="1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8" name="矩形 27"/>
          <p:cNvSpPr>
            <a:spLocks noGrp="1"/>
          </p:cNvSpPr>
          <p:nvPr/>
        </p:nvSpPr>
        <p:spPr>
          <a:xfrm>
            <a:off x="10134600" y="2895600"/>
            <a:ext cx="1162050" cy="1276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275" b="0">
                <a:solidFill>
                  <a:srgbClr val="55555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0">
                <a:solidFill>
                  <a:srgbClr val="55555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match、search、dump、bench</a:t>
            </a:r>
            <a:endParaRPr sz="1275" b="0">
              <a:solidFill>
                <a:srgbClr val="55555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9" name="矩形 28"/>
          <p:cNvSpPr>
            <a:spLocks noGrp="1"/>
          </p:cNvSpPr>
          <p:nvPr/>
        </p:nvSpPr>
        <p:spPr>
          <a:xfrm>
            <a:off x="457200" y="5105400"/>
            <a:ext cx="95250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667"/>
          </a:bodyPr>
          <a:lstStyle/>
          <a:p>
            <a:pPr algn="l">
              <a:buNone/>
              <a:defRPr sz="1875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75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核心结论：代码已经能在 Windows 原生环境构建、测试、运行，并保留 WSL/Linux 的 POSIX 与 sanitizer 验证入口。</a:t>
            </a:r>
            <a:endParaRPr sz="1875" b="1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>
            <a:spLocks noGrp="1"/>
          </p:cNvSpPr>
          <p:nvPr/>
        </p:nvSpPr>
        <p:spPr>
          <a:xfrm>
            <a:off x="390525" y="342900"/>
            <a:ext cx="1038225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3450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3450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十四天计划从基础实现推进到最终交付</a:t>
            </a:r>
            <a:endParaRPr sz="3450" b="1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390525" y="1085850"/>
            <a:ext cx="88582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575" b="0">
                <a:solidFill>
                  <a:srgbClr val="55555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75" b="0">
                <a:solidFill>
                  <a:srgbClr val="55555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先搭语法和自动机主干，再补质量验证、可视化和演示材料。</a:t>
            </a:r>
            <a:endParaRPr sz="1575" b="0">
              <a:solidFill>
                <a:srgbClr val="55555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11277600" y="6276975"/>
            <a:ext cx="5143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b">
            <a:normAutofit/>
          </a:bodyPr>
          <a:lstStyle/>
          <a:p>
            <a:pPr algn="r">
              <a:buNone/>
              <a:defRPr sz="1125" b="0">
                <a:solidFill>
                  <a:srgbClr val="55555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0">
                <a:solidFill>
                  <a:srgbClr val="55555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04</a:t>
            </a:r>
            <a:endParaRPr sz="1125" b="0">
              <a:solidFill>
                <a:srgbClr val="55555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390525" y="1524000"/>
            <a:ext cx="11410950" cy="9525"/>
          </a:xfrm>
          <a:prstGeom prst="rect">
            <a:avLst/>
          </a:prstGeom>
          <a:solidFill>
            <a:srgbClr val="B8BCC4"/>
          </a:solidFill>
          <a:ln w="0">
            <a:noFill/>
            <a:prstDash val="solid"/>
          </a:ln>
        </p:spPr>
      </p:sp>
      <p:graphicFrame>
        <p:nvGraphicFramePr>
          <p:cNvPr id="12" name="表格 11"/>
          <p:cNvGraphicFramePr/>
          <p:nvPr/>
        </p:nvGraphicFramePr>
        <p:xfrm>
          <a:off x="457200" y="1866900"/>
          <a:ext cx="10858500" cy="3429000"/>
        </p:xfrm>
        <a:graphic>
          <a:graphicData uri="http://schemas.openxmlformats.org/drawingml/2006/table">
            <a:tbl>
              <a:tblPr/>
              <a:tblGrid>
                <a:gridCol w="1524000"/>
                <a:gridCol w="857250"/>
                <a:gridCol w="5298281"/>
                <a:gridCol w="3178969"/>
              </a:tblGrid>
              <a:tr h="571500"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FFFFFF"/>
                          </a:solidFill>
                        </a:rPr>
                        <a:t>阶段</a:t>
                      </a:r>
                      <a:endParaRPr sz="1125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FFFFFF"/>
                          </a:solidFill>
                        </a:rPr>
                        <a:t>天数</a:t>
                      </a:r>
                      <a:endParaRPr sz="1125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FFFFFF"/>
                          </a:solidFill>
                        </a:rPr>
                        <a:t>主要完成内容</a:t>
                      </a:r>
                      <a:endParaRPr sz="1125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FFFFFF"/>
                          </a:solidFill>
                        </a:rPr>
                        <a:t>交付结果</a:t>
                      </a:r>
                      <a:endParaRPr sz="1125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000000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00000"/>
                          </a:solidFill>
                        </a:rPr>
                        <a:t>需求与骨架</a:t>
                      </a:r>
                      <a:endParaRPr sz="1125">
                        <a:solidFill>
                          <a:srgbClr val="00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00000"/>
                          </a:solidFill>
                        </a:rPr>
                        <a:t>1-2</a:t>
                      </a:r>
                      <a:endParaRPr sz="1125">
                        <a:solidFill>
                          <a:srgbClr val="00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00000"/>
                          </a:solidFill>
                        </a:rPr>
                        <a:t>题目理解、系统设计、目录结构、构建入口</a:t>
                      </a:r>
                      <a:endParaRPr sz="1125">
                        <a:solidFill>
                          <a:srgbClr val="00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00000"/>
                          </a:solidFill>
                        </a:rPr>
                        <a:t>设计文档、README、CMake</a:t>
                      </a:r>
                      <a:endParaRPr sz="1125">
                        <a:solidFill>
                          <a:srgbClr val="000000"/>
                        </a:solidFill>
                      </a:endParaRPr>
                    </a:p>
                  </a:txBody>
                  <a:tcPr/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00000"/>
                          </a:solidFill>
                        </a:rPr>
                        <a:t>编译前端</a:t>
                      </a:r>
                      <a:endParaRPr sz="1125">
                        <a:solidFill>
                          <a:srgbClr val="00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00000"/>
                          </a:solidFill>
                        </a:rPr>
                        <a:t>3-4</a:t>
                      </a:r>
                      <a:endParaRPr sz="1125">
                        <a:solidFill>
                          <a:srgbClr val="00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00000"/>
                          </a:solidFill>
                        </a:rPr>
                        <a:t>lexer、字符类、转义、parser、AST、错误信息</a:t>
                      </a:r>
                      <a:endParaRPr sz="1125">
                        <a:solidFill>
                          <a:srgbClr val="00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00000"/>
                          </a:solidFill>
                        </a:rPr>
                        <a:t>token/AST dump 与测试</a:t>
                      </a:r>
                      <a:endParaRPr sz="1125">
                        <a:solidFill>
                          <a:srgbClr val="000000"/>
                        </a:solidFill>
                      </a:endParaRPr>
                    </a:p>
                  </a:txBody>
                  <a:tcPr/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00000"/>
                          </a:solidFill>
                        </a:rPr>
                        <a:t>自动机核心</a:t>
                      </a:r>
                      <a:endParaRPr sz="1125">
                        <a:solidFill>
                          <a:srgbClr val="00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00000"/>
                          </a:solidFill>
                        </a:rPr>
                        <a:t>5-8</a:t>
                      </a:r>
                      <a:endParaRPr sz="1125">
                        <a:solidFill>
                          <a:srgbClr val="00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00000"/>
                          </a:solidFill>
                        </a:rPr>
                        <a:t>NFA、DFA、字符压缩、边界锚点、Hopcroft</a:t>
                      </a:r>
                      <a:endParaRPr sz="1125">
                        <a:solidFill>
                          <a:srgbClr val="00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00000"/>
                          </a:solidFill>
                        </a:rPr>
                        <a:t>匹配器、统一 API</a:t>
                      </a:r>
                      <a:endParaRPr sz="1125">
                        <a:solidFill>
                          <a:srgbClr val="000000"/>
                        </a:solidFill>
                      </a:endParaRPr>
                    </a:p>
                  </a:txBody>
                  <a:tcPr/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00000"/>
                          </a:solidFill>
                        </a:rPr>
                        <a:t>质量与功能补齐</a:t>
                      </a:r>
                      <a:endParaRPr sz="1125">
                        <a:solidFill>
                          <a:srgbClr val="00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00000"/>
                          </a:solidFill>
                        </a:rPr>
                        <a:t>9-12</a:t>
                      </a:r>
                      <a:endParaRPr sz="1125">
                        <a:solidFill>
                          <a:srgbClr val="00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00000"/>
                          </a:solidFill>
                        </a:rPr>
                        <a:t>捕获组、findall、压力测试、性能、DOT 可视化</a:t>
                      </a:r>
                      <a:endParaRPr sz="1125">
                        <a:solidFill>
                          <a:srgbClr val="00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00000"/>
                          </a:solidFill>
                        </a:rPr>
                        <a:t>测试、benchmark、DOT 文件</a:t>
                      </a:r>
                      <a:endParaRPr sz="1125">
                        <a:solidFill>
                          <a:srgbClr val="000000"/>
                        </a:solidFill>
                      </a:endParaRPr>
                    </a:p>
                  </a:txBody>
                  <a:tcPr/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00000"/>
                          </a:solidFill>
                        </a:rPr>
                        <a:t>收尾与答辩</a:t>
                      </a:r>
                      <a:endParaRPr sz="1125">
                        <a:solidFill>
                          <a:srgbClr val="00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00000"/>
                          </a:solidFill>
                        </a:rPr>
                        <a:t>13-14</a:t>
                      </a:r>
                      <a:endParaRPr sz="1125">
                        <a:solidFill>
                          <a:srgbClr val="00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00000"/>
                          </a:solidFill>
                        </a:rPr>
                        <a:t>缺陷复查、一键演示、最终报告和 PPT</a:t>
                      </a:r>
                      <a:endParaRPr sz="1125">
                        <a:solidFill>
                          <a:srgbClr val="00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00000"/>
                          </a:solidFill>
                        </a:rPr>
                        <a:t>demo.ps1、最终报告</a:t>
                      </a:r>
                      <a:endParaRPr sz="1125">
                        <a:solidFill>
                          <a:srgbClr val="000000"/>
                        </a:solidFill>
                      </a:endParaRP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矩形 5"/>
          <p:cNvSpPr>
            <a:spLocks noGrp="1"/>
          </p:cNvSpPr>
          <p:nvPr/>
        </p:nvSpPr>
        <p:spPr>
          <a:xfrm>
            <a:off x="457200" y="5619750"/>
            <a:ext cx="8572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800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00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第十四天的重点是 code freeze、最终报告、性能结论和可演示性检查。</a:t>
            </a:r>
            <a:endParaRPr sz="1800" b="1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>
            <a:spLocks noGrp="1"/>
          </p:cNvSpPr>
          <p:nvPr/>
        </p:nvSpPr>
        <p:spPr>
          <a:xfrm>
            <a:off x="390525" y="342900"/>
            <a:ext cx="1038225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3450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3450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语法前端把文本正则变成可计算结构</a:t>
            </a:r>
            <a:endParaRPr sz="3450" b="1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390525" y="1085850"/>
            <a:ext cx="88582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575" b="0">
                <a:solidFill>
                  <a:srgbClr val="55555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75" b="0">
                <a:solidFill>
                  <a:srgbClr val="55555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lexer 和 parser 负责把用户输入转换为 AST，这是后续自动机构造的基础。</a:t>
            </a:r>
            <a:endParaRPr sz="1575" b="0">
              <a:solidFill>
                <a:srgbClr val="55555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11277600" y="6276975"/>
            <a:ext cx="5143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b">
            <a:normAutofit/>
          </a:bodyPr>
          <a:lstStyle/>
          <a:p>
            <a:pPr algn="r">
              <a:buNone/>
              <a:defRPr sz="1125" b="0">
                <a:solidFill>
                  <a:srgbClr val="55555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0">
                <a:solidFill>
                  <a:srgbClr val="55555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05</a:t>
            </a:r>
            <a:endParaRPr sz="1125" b="0">
              <a:solidFill>
                <a:srgbClr val="55555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390525" y="1524000"/>
            <a:ext cx="11410950" cy="9525"/>
          </a:xfrm>
          <a:prstGeom prst="rect">
            <a:avLst/>
          </a:prstGeom>
          <a:solidFill>
            <a:srgbClr val="B8BCC4"/>
          </a:solidFill>
          <a:ln w="0">
            <a:noFill/>
            <a:prstDash val="solid"/>
          </a:ln>
        </p:spPr>
      </p:sp>
      <p:sp>
        <p:nvSpPr>
          <p:cNvPr id="6" name="矩形 5"/>
          <p:cNvSpPr>
            <a:spLocks noGrp="1"/>
          </p:cNvSpPr>
          <p:nvPr/>
        </p:nvSpPr>
        <p:spPr>
          <a:xfrm>
            <a:off x="457200" y="1981200"/>
            <a:ext cx="4953000" cy="3352800"/>
          </a:xfrm>
          <a:prstGeom prst="rect">
            <a:avLst/>
          </a:prstGeom>
          <a:solidFill>
            <a:srgbClr val="EDEDED"/>
          </a:solidFill>
          <a:ln w="0">
            <a:noFill/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742950" y="2247900"/>
            <a:ext cx="2476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2250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250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支持语法</a:t>
            </a:r>
            <a:endParaRPr sz="2250" b="1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742950" y="3000375"/>
            <a:ext cx="85725" cy="85725"/>
          </a:xfrm>
          <a:prstGeom prst="rect">
            <a:avLst/>
          </a:prstGeom>
          <a:solidFill>
            <a:srgbClr val="FF6B35"/>
          </a:solidFill>
          <a:ln w="0">
            <a:noFill/>
            <a:prstDash val="solid"/>
          </a:ln>
        </p:spPr>
      </p:sp>
      <p:sp>
        <p:nvSpPr>
          <p:cNvPr id="9" name="矩形 8"/>
          <p:cNvSpPr>
            <a:spLocks noGrp="1"/>
          </p:cNvSpPr>
          <p:nvPr/>
        </p:nvSpPr>
        <p:spPr>
          <a:xfrm>
            <a:off x="971550" y="2914650"/>
            <a:ext cx="39624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575" b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75" b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普通字符、连接、选择、分组</a:t>
            </a:r>
            <a:endParaRPr sz="1575" b="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742950" y="3457575"/>
            <a:ext cx="85725" cy="85725"/>
          </a:xfrm>
          <a:prstGeom prst="rect">
            <a:avLst/>
          </a:prstGeom>
          <a:solidFill>
            <a:srgbClr val="FF6B35"/>
          </a:solidFill>
          <a:ln w="0">
            <a:noFill/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971550" y="3371850"/>
            <a:ext cx="39624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575" b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75" b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*, +, ?, {m}, {m,}, {m,n}</a:t>
            </a:r>
            <a:endParaRPr sz="1575" b="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742950" y="3914775"/>
            <a:ext cx="85725" cy="85725"/>
          </a:xfrm>
          <a:prstGeom prst="rect">
            <a:avLst/>
          </a:prstGeom>
          <a:solidFill>
            <a:srgbClr val="FF6B35"/>
          </a:solidFill>
          <a:ln w="0">
            <a:noFill/>
            <a:prstDash val="solid"/>
          </a:ln>
        </p:spPr>
      </p:sp>
      <p:sp>
        <p:nvSpPr>
          <p:cNvPr id="13" name="矩形 12"/>
          <p:cNvSpPr>
            <a:spLocks noGrp="1"/>
          </p:cNvSpPr>
          <p:nvPr/>
        </p:nvSpPr>
        <p:spPr>
          <a:xfrm>
            <a:off x="971550" y="3829050"/>
            <a:ext cx="39624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575" b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75" b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., [a-z], [^...], \d, \w, \s</a:t>
            </a:r>
            <a:endParaRPr sz="1575" b="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742950" y="4371975"/>
            <a:ext cx="85725" cy="85725"/>
          </a:xfrm>
          <a:prstGeom prst="rect">
            <a:avLst/>
          </a:prstGeom>
          <a:solidFill>
            <a:srgbClr val="FF6B35"/>
          </a:solidFill>
          <a:ln w="0">
            <a:noFill/>
            <a:prstDash val="solid"/>
          </a:ln>
        </p:spPr>
      </p:sp>
      <p:sp>
        <p:nvSpPr>
          <p:cNvPr id="15" name="矩形 14"/>
          <p:cNvSpPr>
            <a:spLocks noGrp="1"/>
          </p:cNvSpPr>
          <p:nvPr/>
        </p:nvSpPr>
        <p:spPr>
          <a:xfrm>
            <a:off x="971550" y="4286250"/>
            <a:ext cx="39624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575" b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75" b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^ 和 $ 边界锚点</a:t>
            </a:r>
            <a:endParaRPr sz="1575" b="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742950" y="4829175"/>
            <a:ext cx="85725" cy="85725"/>
          </a:xfrm>
          <a:prstGeom prst="rect">
            <a:avLst/>
          </a:prstGeom>
          <a:solidFill>
            <a:srgbClr val="FF6B35"/>
          </a:solidFill>
          <a:ln w="0">
            <a:noFill/>
            <a:prstDash val="solid"/>
          </a:ln>
        </p:spPr>
      </p:sp>
      <p:sp>
        <p:nvSpPr>
          <p:cNvPr id="17" name="矩形 16"/>
          <p:cNvSpPr>
            <a:spLocks noGrp="1"/>
          </p:cNvSpPr>
          <p:nvPr/>
        </p:nvSpPr>
        <p:spPr>
          <a:xfrm>
            <a:off x="971550" y="4743450"/>
            <a:ext cx="39624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575" b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75" b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错误位置和可读错误信息</a:t>
            </a:r>
            <a:endParaRPr sz="1575" b="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8" name="矩形 17"/>
          <p:cNvSpPr>
            <a:spLocks noGrp="1"/>
          </p:cNvSpPr>
          <p:nvPr/>
        </p:nvSpPr>
        <p:spPr>
          <a:xfrm>
            <a:off x="6153150" y="1981200"/>
            <a:ext cx="5143500" cy="3352800"/>
          </a:xfrm>
          <a:prstGeom prst="rect">
            <a:avLst/>
          </a:prstGeom>
          <a:solidFill>
            <a:srgbClr val="F7F7F7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19" name="矩形 18"/>
          <p:cNvSpPr>
            <a:spLocks noGrp="1"/>
          </p:cNvSpPr>
          <p:nvPr/>
        </p:nvSpPr>
        <p:spPr>
          <a:xfrm>
            <a:off x="6438900" y="2247900"/>
            <a:ext cx="2286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2250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250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示例 AST</a:t>
            </a:r>
            <a:endParaRPr sz="2250" b="1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0" name="矩形 19"/>
          <p:cNvSpPr>
            <a:spLocks noGrp="1"/>
          </p:cNvSpPr>
          <p:nvPr/>
        </p:nvSpPr>
        <p:spPr>
          <a:xfrm>
            <a:off x="6438900" y="2914650"/>
            <a:ext cx="4381500" cy="2000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432"/>
          </a:bodyPr>
          <a:lstStyle/>
          <a:p>
            <a:pPr algn="l">
              <a:buNone/>
              <a:defRPr sz="1650" b="0">
                <a:solidFill>
                  <a:srgbClr val="0000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650" b="0">
                <a:solidFill>
                  <a:srgbClr val="0000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([a-z]+)\d{2,4}</a:t>
            </a:r>
            <a:endParaRPr sz="1650" b="0">
              <a:solidFill>
                <a:srgbClr val="000000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endParaRPr sz="1650"/>
          </a:p>
          <a:p>
            <a:pPr algn="l">
              <a:buNone/>
              <a:defRPr sz="1650" b="0">
                <a:solidFill>
                  <a:srgbClr val="0000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650" b="0">
                <a:solidFill>
                  <a:srgbClr val="0000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CONCAT</a:t>
            </a:r>
            <a:endParaRPr sz="1650" b="0">
              <a:solidFill>
                <a:srgbClr val="000000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buNone/>
              <a:defRPr sz="1650" b="0">
                <a:solidFill>
                  <a:srgbClr val="0000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650" b="0">
                <a:solidFill>
                  <a:srgbClr val="0000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GROUP #1</a:t>
            </a:r>
            <a:endParaRPr sz="1650" b="0">
              <a:solidFill>
                <a:srgbClr val="000000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buNone/>
              <a:defRPr sz="1650" b="0">
                <a:solidFill>
                  <a:srgbClr val="0000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650" b="0">
                <a:solidFill>
                  <a:srgbClr val="0000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  PLUS</a:t>
            </a:r>
            <a:endParaRPr sz="1650" b="0">
              <a:solidFill>
                <a:srgbClr val="000000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buNone/>
              <a:defRPr sz="1650" b="0">
                <a:solidFill>
                  <a:srgbClr val="0000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650" b="0">
                <a:solidFill>
                  <a:srgbClr val="0000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    CLASS [a-z]</a:t>
            </a:r>
            <a:endParaRPr sz="1650" b="0">
              <a:solidFill>
                <a:srgbClr val="000000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buNone/>
              <a:defRPr sz="1650" b="0">
                <a:solidFill>
                  <a:srgbClr val="0000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650" b="0">
                <a:solidFill>
                  <a:srgbClr val="0000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REPEAT {2,4}</a:t>
            </a:r>
            <a:endParaRPr sz="1650" b="0">
              <a:solidFill>
                <a:srgbClr val="000000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buNone/>
              <a:defRPr sz="1650" b="0">
                <a:solidFill>
                  <a:srgbClr val="0000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650" b="0">
                <a:solidFill>
                  <a:srgbClr val="0000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  CLASS [0-9]</a:t>
            </a:r>
            <a:endParaRPr sz="1650" b="0">
              <a:solidFill>
                <a:srgbClr val="000000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>
            <a:spLocks noGrp="1"/>
          </p:cNvSpPr>
          <p:nvPr/>
        </p:nvSpPr>
        <p:spPr>
          <a:xfrm>
            <a:off x="390525" y="342900"/>
            <a:ext cx="1038225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3450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3450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自动机链路决定匹配能力和性能上限</a:t>
            </a:r>
            <a:endParaRPr sz="3450" b="1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390525" y="1085850"/>
            <a:ext cx="88582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575" b="0">
                <a:solidFill>
                  <a:srgbClr val="55555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75" b="0">
                <a:solidFill>
                  <a:srgbClr val="55555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NFA 保持构造简单，DFA 用更多编译成本换取更快的重复匹配。</a:t>
            </a:r>
            <a:endParaRPr sz="1575" b="0">
              <a:solidFill>
                <a:srgbClr val="55555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11277600" y="6276975"/>
            <a:ext cx="5143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b">
            <a:normAutofit/>
          </a:bodyPr>
          <a:lstStyle/>
          <a:p>
            <a:pPr algn="r">
              <a:buNone/>
              <a:defRPr sz="1125" b="0">
                <a:solidFill>
                  <a:srgbClr val="55555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0">
                <a:solidFill>
                  <a:srgbClr val="55555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06</a:t>
            </a:r>
            <a:endParaRPr sz="1125" b="0">
              <a:solidFill>
                <a:srgbClr val="55555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390525" y="1524000"/>
            <a:ext cx="11410950" cy="9525"/>
          </a:xfrm>
          <a:prstGeom prst="rect">
            <a:avLst/>
          </a:prstGeom>
          <a:solidFill>
            <a:srgbClr val="B8BCC4"/>
          </a:solidFill>
          <a:ln w="0">
            <a:noFill/>
            <a:prstDash val="solid"/>
          </a:ln>
        </p:spPr>
      </p:sp>
      <p:sp>
        <p:nvSpPr>
          <p:cNvPr id="6" name="矩形 5"/>
          <p:cNvSpPr>
            <a:spLocks noGrp="1"/>
          </p:cNvSpPr>
          <p:nvPr/>
        </p:nvSpPr>
        <p:spPr>
          <a:xfrm>
            <a:off x="457200" y="1943100"/>
            <a:ext cx="4953000" cy="3638550"/>
          </a:xfrm>
          <a:prstGeom prst="rect">
            <a:avLst/>
          </a:prstGeom>
          <a:solidFill>
            <a:srgbClr val="EDEDED"/>
          </a:solidFill>
          <a:ln w="0">
            <a:noFill/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742950" y="2209800"/>
            <a:ext cx="2286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2325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325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NFA 路径</a:t>
            </a:r>
            <a:endParaRPr sz="2325" b="1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742950" y="3038475"/>
            <a:ext cx="85725" cy="85725"/>
          </a:xfrm>
          <a:prstGeom prst="rect">
            <a:avLst/>
          </a:prstGeom>
          <a:solidFill>
            <a:srgbClr val="FF6B35"/>
          </a:solidFill>
          <a:ln w="0">
            <a:noFill/>
            <a:prstDash val="solid"/>
          </a:ln>
        </p:spPr>
      </p:sp>
      <p:sp>
        <p:nvSpPr>
          <p:cNvPr id="9" name="矩形 8"/>
          <p:cNvSpPr>
            <a:spLocks noGrp="1"/>
          </p:cNvSpPr>
          <p:nvPr/>
        </p:nvSpPr>
        <p:spPr>
          <a:xfrm>
            <a:off x="971550" y="2952750"/>
            <a:ext cx="38671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650" b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650" b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使用 Thompson 构造法</a:t>
            </a:r>
            <a:endParaRPr sz="1650" b="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742950" y="3571875"/>
            <a:ext cx="85725" cy="85725"/>
          </a:xfrm>
          <a:prstGeom prst="rect">
            <a:avLst/>
          </a:prstGeom>
          <a:solidFill>
            <a:srgbClr val="FF6B35"/>
          </a:solidFill>
          <a:ln w="0">
            <a:noFill/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971550" y="3486150"/>
            <a:ext cx="38671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650" b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650" b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epsilon-closure 支持非确定转移</a:t>
            </a:r>
            <a:endParaRPr sz="1650" b="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742950" y="4105275"/>
            <a:ext cx="85725" cy="85725"/>
          </a:xfrm>
          <a:prstGeom prst="rect">
            <a:avLst/>
          </a:prstGeom>
          <a:solidFill>
            <a:srgbClr val="FF6B35"/>
          </a:solidFill>
          <a:ln w="0">
            <a:noFill/>
            <a:prstDash val="solid"/>
          </a:ln>
        </p:spPr>
      </p:sp>
      <p:sp>
        <p:nvSpPr>
          <p:cNvPr id="13" name="矩形 12"/>
          <p:cNvSpPr>
            <a:spLocks noGrp="1"/>
          </p:cNvSpPr>
          <p:nvPr/>
        </p:nvSpPr>
        <p:spPr>
          <a:xfrm>
            <a:off x="971550" y="4019550"/>
            <a:ext cx="38671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650" b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650" b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适合快速编译和解释执行</a:t>
            </a:r>
            <a:endParaRPr sz="1650" b="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742950" y="4638675"/>
            <a:ext cx="85725" cy="85725"/>
          </a:xfrm>
          <a:prstGeom prst="rect">
            <a:avLst/>
          </a:prstGeom>
          <a:solidFill>
            <a:srgbClr val="FF6B35"/>
          </a:solidFill>
          <a:ln w="0">
            <a:noFill/>
            <a:prstDash val="solid"/>
          </a:ln>
        </p:spPr>
      </p:sp>
      <p:sp>
        <p:nvSpPr>
          <p:cNvPr id="15" name="矩形 14"/>
          <p:cNvSpPr>
            <a:spLocks noGrp="1"/>
          </p:cNvSpPr>
          <p:nvPr/>
        </p:nvSpPr>
        <p:spPr>
          <a:xfrm>
            <a:off x="971550" y="4552950"/>
            <a:ext cx="38671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650" b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650" b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捕获组通过标签回填记录区间</a:t>
            </a:r>
            <a:endParaRPr sz="1650" b="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6153150" y="1943100"/>
            <a:ext cx="5143500" cy="3638550"/>
          </a:xfrm>
          <a:prstGeom prst="rect">
            <a:avLst/>
          </a:prstGeom>
          <a:solidFill>
            <a:srgbClr val="F7F7F7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17" name="矩形 16"/>
          <p:cNvSpPr>
            <a:spLocks noGrp="1"/>
          </p:cNvSpPr>
          <p:nvPr/>
        </p:nvSpPr>
        <p:spPr>
          <a:xfrm>
            <a:off x="6438900" y="2209800"/>
            <a:ext cx="3429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2325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325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DFA / MinDFA 路径</a:t>
            </a:r>
            <a:endParaRPr sz="2325" b="1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8" name="矩形 17"/>
          <p:cNvSpPr>
            <a:spLocks noGrp="1"/>
          </p:cNvSpPr>
          <p:nvPr/>
        </p:nvSpPr>
        <p:spPr>
          <a:xfrm>
            <a:off x="6438900" y="3038475"/>
            <a:ext cx="85725" cy="85725"/>
          </a:xfrm>
          <a:prstGeom prst="rect">
            <a:avLst/>
          </a:prstGeom>
          <a:solidFill>
            <a:srgbClr val="FF6B35"/>
          </a:solidFill>
          <a:ln w="0">
            <a:noFill/>
            <a:prstDash val="solid"/>
          </a:ln>
        </p:spPr>
      </p:sp>
      <p:sp>
        <p:nvSpPr>
          <p:cNvPr id="19" name="矩形 18"/>
          <p:cNvSpPr>
            <a:spLocks noGrp="1"/>
          </p:cNvSpPr>
          <p:nvPr/>
        </p:nvSpPr>
        <p:spPr>
          <a:xfrm>
            <a:off x="6667500" y="2952750"/>
            <a:ext cx="40576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650" b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650" b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子集构造把状态集合确定化</a:t>
            </a:r>
            <a:endParaRPr sz="1650" b="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0" name="矩形 19"/>
          <p:cNvSpPr>
            <a:spLocks noGrp="1"/>
          </p:cNvSpPr>
          <p:nvPr/>
        </p:nvSpPr>
        <p:spPr>
          <a:xfrm>
            <a:off x="6438900" y="3571875"/>
            <a:ext cx="85725" cy="85725"/>
          </a:xfrm>
          <a:prstGeom prst="rect">
            <a:avLst/>
          </a:prstGeom>
          <a:solidFill>
            <a:srgbClr val="FF6B35"/>
          </a:solidFill>
          <a:ln w="0">
            <a:noFill/>
            <a:prstDash val="solid"/>
          </a:ln>
        </p:spPr>
      </p:sp>
      <p:sp>
        <p:nvSpPr>
          <p:cNvPr id="21" name="矩形 20"/>
          <p:cNvSpPr>
            <a:spLocks noGrp="1"/>
          </p:cNvSpPr>
          <p:nvPr/>
        </p:nvSpPr>
        <p:spPr>
          <a:xfrm>
            <a:off x="6667500" y="3486150"/>
            <a:ext cx="40576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650" b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650" b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字符等价类压缩转移表</a:t>
            </a:r>
            <a:endParaRPr sz="1650" b="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2" name="矩形 21"/>
          <p:cNvSpPr>
            <a:spLocks noGrp="1"/>
          </p:cNvSpPr>
          <p:nvPr/>
        </p:nvSpPr>
        <p:spPr>
          <a:xfrm>
            <a:off x="6438900" y="4105275"/>
            <a:ext cx="85725" cy="85725"/>
          </a:xfrm>
          <a:prstGeom prst="rect">
            <a:avLst/>
          </a:prstGeom>
          <a:solidFill>
            <a:srgbClr val="FF6B35"/>
          </a:solidFill>
          <a:ln w="0">
            <a:noFill/>
            <a:prstDash val="solid"/>
          </a:ln>
        </p:spPr>
      </p:sp>
      <p:sp>
        <p:nvSpPr>
          <p:cNvPr id="23" name="矩形 22"/>
          <p:cNvSpPr>
            <a:spLocks noGrp="1"/>
          </p:cNvSpPr>
          <p:nvPr/>
        </p:nvSpPr>
        <p:spPr>
          <a:xfrm>
            <a:off x="6667500" y="4019550"/>
            <a:ext cx="40576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650" b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650" b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Hopcroft 合并等价状态</a:t>
            </a:r>
            <a:endParaRPr sz="1650" b="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4" name="矩形 23"/>
          <p:cNvSpPr>
            <a:spLocks noGrp="1"/>
          </p:cNvSpPr>
          <p:nvPr/>
        </p:nvSpPr>
        <p:spPr>
          <a:xfrm>
            <a:off x="6438900" y="4638675"/>
            <a:ext cx="85725" cy="85725"/>
          </a:xfrm>
          <a:prstGeom prst="rect">
            <a:avLst/>
          </a:prstGeom>
          <a:solidFill>
            <a:srgbClr val="FF6B35"/>
          </a:solidFill>
          <a:ln w="0">
            <a:noFill/>
            <a:prstDash val="solid"/>
          </a:ln>
        </p:spPr>
      </p:sp>
      <p:sp>
        <p:nvSpPr>
          <p:cNvPr id="25" name="矩形 24"/>
          <p:cNvSpPr>
            <a:spLocks noGrp="1"/>
          </p:cNvSpPr>
          <p:nvPr/>
        </p:nvSpPr>
        <p:spPr>
          <a:xfrm>
            <a:off x="6667500" y="4552950"/>
            <a:ext cx="40576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7852"/>
          </a:bodyPr>
          <a:lstStyle/>
          <a:p>
            <a:pPr algn="l">
              <a:buNone/>
              <a:defRPr sz="1650" b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650" b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DFA 先定位整体匹配，再由 NFA 回填捕获组</a:t>
            </a:r>
            <a:endParaRPr sz="1650" b="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>
            <a:spLocks noGrp="1"/>
          </p:cNvSpPr>
          <p:nvPr/>
        </p:nvSpPr>
        <p:spPr>
          <a:xfrm>
            <a:off x="390525" y="342900"/>
            <a:ext cx="1038225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3450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3450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API 和工具让引擎可以直接使用</a:t>
            </a:r>
            <a:endParaRPr sz="3450" b="1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390525" y="1085850"/>
            <a:ext cx="88582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575" b="0">
                <a:solidFill>
                  <a:srgbClr val="55555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75" b="0">
                <a:solidFill>
                  <a:srgbClr val="55555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最终交付不只包含库，还包含调试、可视化和性能入口。</a:t>
            </a:r>
            <a:endParaRPr sz="1575" b="0">
              <a:solidFill>
                <a:srgbClr val="55555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11277600" y="6276975"/>
            <a:ext cx="5143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b">
            <a:normAutofit/>
          </a:bodyPr>
          <a:lstStyle/>
          <a:p>
            <a:pPr algn="r">
              <a:buNone/>
              <a:defRPr sz="1125" b="0">
                <a:solidFill>
                  <a:srgbClr val="55555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0">
                <a:solidFill>
                  <a:srgbClr val="55555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07</a:t>
            </a:r>
            <a:endParaRPr sz="1125" b="0">
              <a:solidFill>
                <a:srgbClr val="55555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390525" y="1524000"/>
            <a:ext cx="11410950" cy="9525"/>
          </a:xfrm>
          <a:prstGeom prst="rect">
            <a:avLst/>
          </a:prstGeom>
          <a:solidFill>
            <a:srgbClr val="B8BCC4"/>
          </a:solidFill>
          <a:ln w="0">
            <a:noFill/>
            <a:prstDash val="solid"/>
          </a:ln>
        </p:spPr>
      </p:sp>
      <p:graphicFrame>
        <p:nvGraphicFramePr>
          <p:cNvPr id="10" name="表格 9"/>
          <p:cNvGraphicFramePr/>
          <p:nvPr/>
        </p:nvGraphicFramePr>
        <p:xfrm>
          <a:off x="457200" y="1866900"/>
          <a:ext cx="10858501" cy="3714753"/>
        </p:xfrm>
        <a:graphic>
          <a:graphicData uri="http://schemas.openxmlformats.org/drawingml/2006/table">
            <a:tbl>
              <a:tblPr/>
              <a:tblGrid>
                <a:gridCol w="1428750"/>
                <a:gridCol w="4872038"/>
                <a:gridCol w="4557713"/>
              </a:tblGrid>
              <a:tr h="530679"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FFFFFF"/>
                          </a:solidFill>
                        </a:rPr>
                        <a:t>类别</a:t>
                      </a:r>
                      <a:endParaRPr sz="1125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FFFFFF"/>
                          </a:solidFill>
                        </a:rPr>
                        <a:t>代表内容</a:t>
                      </a:r>
                      <a:endParaRPr sz="1125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FFFFFF"/>
                          </a:solidFill>
                        </a:rPr>
                        <a:t>用途</a:t>
                      </a:r>
                      <a:endParaRPr sz="1125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000000"/>
                    </a:solidFill>
                  </a:tcPr>
                </a:tc>
              </a:tr>
              <a:tr h="530679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00000"/>
                          </a:solidFill>
                        </a:rPr>
                        <a:t>公开 API</a:t>
                      </a:r>
                      <a:endParaRPr sz="1125">
                        <a:solidFill>
                          <a:srgbClr val="00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00000"/>
                          </a:solidFill>
                        </a:rPr>
                        <a:t>regex_compile / search / match / findall</a:t>
                      </a:r>
                      <a:endParaRPr sz="1125">
                        <a:solidFill>
                          <a:srgbClr val="00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00000"/>
                          </a:solidFill>
                        </a:rPr>
                        <a:t>在 C 程序中嵌入正则能力</a:t>
                      </a:r>
                      <a:endParaRPr sz="1125">
                        <a:solidFill>
                          <a:srgbClr val="000000"/>
                        </a:solidFill>
                      </a:endParaRPr>
                    </a:p>
                  </a:txBody>
                  <a:tcPr/>
                </a:tc>
              </a:tr>
              <a:tr h="530679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00000"/>
                          </a:solidFill>
                        </a:rPr>
                        <a:t>状态统计</a:t>
                      </a:r>
                      <a:endParaRPr sz="1125">
                        <a:solidFill>
                          <a:srgbClr val="00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00000"/>
                          </a:solidFill>
                        </a:rPr>
                        <a:t>regex_get_stats</a:t>
                      </a:r>
                      <a:endParaRPr sz="1125">
                        <a:solidFill>
                          <a:srgbClr val="00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00000"/>
                          </a:solidFill>
                        </a:rPr>
                        <a:t>读取 NFA、DFA、字符类数量</a:t>
                      </a:r>
                      <a:endParaRPr sz="1125">
                        <a:solidFill>
                          <a:srgbClr val="000000"/>
                        </a:solidFill>
                      </a:endParaRPr>
                    </a:p>
                  </a:txBody>
                  <a:tcPr/>
                </a:tc>
              </a:tr>
              <a:tr h="530679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00000"/>
                          </a:solidFill>
                        </a:rPr>
                        <a:t>命令行匹配</a:t>
                      </a:r>
                      <a:endParaRPr sz="1125">
                        <a:solidFill>
                          <a:srgbClr val="00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00000"/>
                          </a:solidFill>
                        </a:rPr>
                        <a:t>rx_cli --dfa PATTERN TEXT</a:t>
                      </a:r>
                      <a:endParaRPr sz="1125">
                        <a:solidFill>
                          <a:srgbClr val="00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00000"/>
                          </a:solidFill>
                        </a:rPr>
                        <a:t>现场展示匹配和捕获组</a:t>
                      </a:r>
                      <a:endParaRPr sz="1125">
                        <a:solidFill>
                          <a:srgbClr val="000000"/>
                        </a:solidFill>
                      </a:endParaRPr>
                    </a:p>
                  </a:txBody>
                  <a:tcPr/>
                </a:tc>
              </a:tr>
              <a:tr h="530679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00000"/>
                          </a:solidFill>
                        </a:rPr>
                        <a:t>结构导出</a:t>
                      </a:r>
                      <a:endParaRPr sz="1125">
                        <a:solidFill>
                          <a:srgbClr val="00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00000"/>
                          </a:solidFill>
                        </a:rPr>
                        <a:t>rx_dump_tokens / ast / nfa / dfa</a:t>
                      </a:r>
                      <a:endParaRPr sz="1125">
                        <a:solidFill>
                          <a:srgbClr val="00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00000"/>
                          </a:solidFill>
                        </a:rPr>
                        <a:t>解释编译过程和自动机结构</a:t>
                      </a:r>
                      <a:endParaRPr sz="1125">
                        <a:solidFill>
                          <a:srgbClr val="000000"/>
                        </a:solidFill>
                      </a:endParaRPr>
                    </a:p>
                  </a:txBody>
                  <a:tcPr/>
                </a:tc>
              </a:tr>
              <a:tr h="530679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00000"/>
                          </a:solidFill>
                        </a:rPr>
                        <a:t>可视化</a:t>
                      </a:r>
                      <a:endParaRPr sz="1125">
                        <a:solidFill>
                          <a:srgbClr val="00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00000"/>
                          </a:solidFill>
                        </a:rPr>
                        <a:t>rx_dump_dot</a:t>
                      </a:r>
                      <a:endParaRPr sz="1125">
                        <a:solidFill>
                          <a:srgbClr val="00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00000"/>
                          </a:solidFill>
                        </a:rPr>
                        <a:t>导出 Graphviz DOT 文件</a:t>
                      </a:r>
                      <a:endParaRPr sz="1125">
                        <a:solidFill>
                          <a:srgbClr val="000000"/>
                        </a:solidFill>
                      </a:endParaRPr>
                    </a:p>
                  </a:txBody>
                  <a:tcPr/>
                </a:tc>
              </a:tr>
              <a:tr h="530679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00000"/>
                          </a:solidFill>
                        </a:rPr>
                        <a:t>性能基准</a:t>
                      </a:r>
                      <a:endParaRPr sz="1125">
                        <a:solidFill>
                          <a:srgbClr val="00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00000"/>
                          </a:solidFill>
                        </a:rPr>
                        <a:t>rx_bench --csv</a:t>
                      </a:r>
                      <a:endParaRPr sz="1125">
                        <a:solidFill>
                          <a:srgbClr val="00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00000"/>
                          </a:solidFill>
                        </a:rPr>
                        <a:t>比较 NFA 与 DFA 的匹配成本</a:t>
                      </a:r>
                      <a:endParaRPr sz="1125">
                        <a:solidFill>
                          <a:srgbClr val="000000"/>
                        </a:solidFill>
                      </a:endParaRP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>
            <a:spLocks noGrp="1"/>
          </p:cNvSpPr>
          <p:nvPr/>
        </p:nvSpPr>
        <p:spPr>
          <a:xfrm>
            <a:off x="390525" y="342900"/>
            <a:ext cx="1038225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3450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3450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测试结果说明当前版本可以稳定运行</a:t>
            </a:r>
            <a:endParaRPr sz="3450" b="1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390525" y="1085850"/>
            <a:ext cx="88582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575" b="0">
                <a:solidFill>
                  <a:srgbClr val="55555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75" b="0">
                <a:solidFill>
                  <a:srgbClr val="55555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 13 天已完成最终回归，覆盖单元、压力、一致性和 DOT 结构验证。</a:t>
            </a:r>
            <a:endParaRPr sz="1575" b="0">
              <a:solidFill>
                <a:srgbClr val="55555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11277600" y="6276975"/>
            <a:ext cx="5143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b">
            <a:normAutofit/>
          </a:bodyPr>
          <a:lstStyle/>
          <a:p>
            <a:pPr algn="r">
              <a:buNone/>
              <a:defRPr sz="1125" b="0">
                <a:solidFill>
                  <a:srgbClr val="55555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0">
                <a:solidFill>
                  <a:srgbClr val="55555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08</a:t>
            </a:r>
            <a:endParaRPr sz="1125" b="0">
              <a:solidFill>
                <a:srgbClr val="55555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390525" y="1524000"/>
            <a:ext cx="11410950" cy="9525"/>
          </a:xfrm>
          <a:prstGeom prst="rect">
            <a:avLst/>
          </a:prstGeom>
          <a:solidFill>
            <a:srgbClr val="B8BCC4"/>
          </a:solidFill>
          <a:ln w="0">
            <a:noFill/>
            <a:prstDash val="solid"/>
          </a:ln>
        </p:spPr>
      </p:sp>
      <p:sp>
        <p:nvSpPr>
          <p:cNvPr id="6" name="矩形 5"/>
          <p:cNvSpPr>
            <a:spLocks noGrp="1"/>
          </p:cNvSpPr>
          <p:nvPr/>
        </p:nvSpPr>
        <p:spPr>
          <a:xfrm>
            <a:off x="457200" y="2038350"/>
            <a:ext cx="2476500" cy="2686050"/>
          </a:xfrm>
          <a:prstGeom prst="rect">
            <a:avLst/>
          </a:prstGeom>
          <a:solidFill>
            <a:srgbClr val="EDEDED"/>
          </a:solidFill>
          <a:ln w="0">
            <a:noFill/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685800" y="2286000"/>
            <a:ext cx="20193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3450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3450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8</a:t>
            </a:r>
            <a:endParaRPr sz="3450" b="1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685800" y="3105150"/>
            <a:ext cx="20193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650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650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测试程序</a:t>
            </a:r>
            <a:endParaRPr sz="1650" b="1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685800" y="3600450"/>
            <a:ext cx="2019300" cy="895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275" b="0">
                <a:solidFill>
                  <a:srgbClr val="55555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0">
                <a:solidFill>
                  <a:srgbClr val="55555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lexer、parser、NFA、DFA、DOT、API、stress、conformance</a:t>
            </a:r>
            <a:endParaRPr sz="1275" b="0">
              <a:solidFill>
                <a:srgbClr val="55555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3333750" y="2038350"/>
            <a:ext cx="2476500" cy="2686050"/>
          </a:xfrm>
          <a:prstGeom prst="rect">
            <a:avLst/>
          </a:prstGeom>
          <a:solidFill>
            <a:srgbClr val="EDEDED"/>
          </a:solidFill>
          <a:ln w="0">
            <a:noFill/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3562350" y="2286000"/>
            <a:ext cx="20193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3450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3450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90</a:t>
            </a:r>
            <a:endParaRPr sz="3450" b="1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3562350" y="3105150"/>
            <a:ext cx="20193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650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650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一致性执行</a:t>
            </a:r>
            <a:endParaRPr sz="1650" b="1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3562350" y="3600450"/>
            <a:ext cx="2019300" cy="895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275" b="0">
                <a:solidFill>
                  <a:srgbClr val="55555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0">
                <a:solidFill>
                  <a:srgbClr val="55555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45 组模式在 NFA 和 DFA 两条路径分别执行</a:t>
            </a:r>
            <a:endParaRPr sz="1275" b="0">
              <a:solidFill>
                <a:srgbClr val="55555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6210300" y="2038350"/>
            <a:ext cx="2476500" cy="2686050"/>
          </a:xfrm>
          <a:prstGeom prst="rect">
            <a:avLst/>
          </a:prstGeom>
          <a:solidFill>
            <a:srgbClr val="EDEDED"/>
          </a:solidFill>
          <a:ln w="0">
            <a:noFill/>
            <a:prstDash val="solid"/>
          </a:ln>
        </p:spPr>
      </p:sp>
      <p:sp>
        <p:nvSpPr>
          <p:cNvPr id="15" name="矩形 14"/>
          <p:cNvSpPr>
            <a:spLocks noGrp="1"/>
          </p:cNvSpPr>
          <p:nvPr/>
        </p:nvSpPr>
        <p:spPr>
          <a:xfrm>
            <a:off x="6438900" y="2286000"/>
            <a:ext cx="20193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3450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3450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/W4</a:t>
            </a:r>
            <a:endParaRPr sz="3450" b="1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6438900" y="3105150"/>
            <a:ext cx="20193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650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650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编译检查</a:t>
            </a:r>
            <a:endParaRPr sz="1650" b="1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6438900" y="3600450"/>
            <a:ext cx="2019300" cy="895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275" b="0">
                <a:solidFill>
                  <a:srgbClr val="55555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0">
                <a:solidFill>
                  <a:srgbClr val="55555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Windows Scope MSVC 构建通过，无新增警告</a:t>
            </a:r>
            <a:endParaRPr sz="1275" b="0">
              <a:solidFill>
                <a:srgbClr val="55555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8" name="矩形 17"/>
          <p:cNvSpPr>
            <a:spLocks noGrp="1"/>
          </p:cNvSpPr>
          <p:nvPr/>
        </p:nvSpPr>
        <p:spPr>
          <a:xfrm>
            <a:off x="9086850" y="2038350"/>
            <a:ext cx="2476500" cy="2686050"/>
          </a:xfrm>
          <a:prstGeom prst="rect">
            <a:avLst/>
          </a:prstGeom>
          <a:solidFill>
            <a:srgbClr val="EDEDED"/>
          </a:solidFill>
          <a:ln w="0">
            <a:noFill/>
            <a:prstDash val="solid"/>
          </a:ln>
        </p:spPr>
      </p:sp>
      <p:sp>
        <p:nvSpPr>
          <p:cNvPr id="19" name="矩形 18"/>
          <p:cNvSpPr>
            <a:spLocks noGrp="1"/>
          </p:cNvSpPr>
          <p:nvPr/>
        </p:nvSpPr>
        <p:spPr>
          <a:xfrm>
            <a:off x="9315450" y="2286000"/>
            <a:ext cx="20193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3450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3450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</a:t>
            </a:r>
            <a:endParaRPr sz="3450" b="1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0" name="矩形 19"/>
          <p:cNvSpPr>
            <a:spLocks noGrp="1"/>
          </p:cNvSpPr>
          <p:nvPr/>
        </p:nvSpPr>
        <p:spPr>
          <a:xfrm>
            <a:off x="9315450" y="3105150"/>
            <a:ext cx="20193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650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650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演示命令</a:t>
            </a:r>
            <a:endParaRPr sz="1650" b="1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1" name="矩形 20"/>
          <p:cNvSpPr>
            <a:spLocks noGrp="1"/>
          </p:cNvSpPr>
          <p:nvPr/>
        </p:nvSpPr>
        <p:spPr>
          <a:xfrm>
            <a:off x="9315450" y="3600450"/>
            <a:ext cx="2019300" cy="895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275" b="0">
                <a:solidFill>
                  <a:srgbClr val="55555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0">
                <a:solidFill>
                  <a:srgbClr val="55555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demo.ps1 串起构建、dump、DOT 和 benchmark</a:t>
            </a:r>
            <a:endParaRPr sz="1275" b="0">
              <a:solidFill>
                <a:srgbClr val="55555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2" name="矩形 21"/>
          <p:cNvSpPr>
            <a:spLocks noGrp="1"/>
          </p:cNvSpPr>
          <p:nvPr/>
        </p:nvSpPr>
        <p:spPr>
          <a:xfrm>
            <a:off x="457200" y="5334000"/>
            <a:ext cx="97155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650" b="0">
                <a:solidFill>
                  <a:srgbClr val="0000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650" b="0">
                <a:solidFill>
                  <a:srgbClr val="0000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回归命令：powershell -ExecutionPolicy Bypass -File .\scripts\build-msvc.ps1 -Test</a:t>
            </a:r>
            <a:endParaRPr sz="1650" b="0">
              <a:solidFill>
                <a:srgbClr val="000000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>
            <a:spLocks noGrp="1"/>
          </p:cNvSpPr>
          <p:nvPr/>
        </p:nvSpPr>
        <p:spPr>
          <a:xfrm>
            <a:off x="390525" y="342900"/>
            <a:ext cx="1038225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3450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3450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性能结果显示 DFA 更适合重复匹配</a:t>
            </a:r>
            <a:endParaRPr sz="3450" b="1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390525" y="1085850"/>
            <a:ext cx="88582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575" b="0">
                <a:solidFill>
                  <a:srgbClr val="55555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75" b="0">
                <a:solidFill>
                  <a:srgbClr val="55555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在 Windows Release 基准中，DFA 编译更重，但匹配阶段明显快于 NFA。</a:t>
            </a:r>
            <a:endParaRPr sz="1575" b="0">
              <a:solidFill>
                <a:srgbClr val="55555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11277600" y="6276975"/>
            <a:ext cx="5143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b">
            <a:normAutofit/>
          </a:bodyPr>
          <a:lstStyle/>
          <a:p>
            <a:pPr algn="r">
              <a:buNone/>
              <a:defRPr sz="1125" b="0">
                <a:solidFill>
                  <a:srgbClr val="55555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0">
                <a:solidFill>
                  <a:srgbClr val="55555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09</a:t>
            </a:r>
            <a:endParaRPr sz="1125" b="0">
              <a:solidFill>
                <a:srgbClr val="55555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390525" y="1524000"/>
            <a:ext cx="11410950" cy="9525"/>
          </a:xfrm>
          <a:prstGeom prst="rect">
            <a:avLst/>
          </a:prstGeom>
          <a:solidFill>
            <a:srgbClr val="B8BCC4"/>
          </a:solidFill>
          <a:ln w="0">
            <a:noFill/>
            <a:prstDash val="solid"/>
          </a:ln>
        </p:spPr>
      </p:sp>
      <p:graphicFrame>
        <p:nvGraphicFramePr>
          <p:cNvPr id="20" name="Chart"/>
          <p:cNvGraphicFramePr/>
          <p:nvPr/>
        </p:nvGraphicFramePr>
        <p:xfrm>
          <a:off x="457200" y="1809750"/>
          <a:ext cx="6667500" cy="37147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6" name="矩形 5"/>
          <p:cNvSpPr>
            <a:spLocks noGrp="1"/>
          </p:cNvSpPr>
          <p:nvPr/>
        </p:nvSpPr>
        <p:spPr>
          <a:xfrm>
            <a:off x="7791450" y="2076450"/>
            <a:ext cx="3429000" cy="2533650"/>
          </a:xfrm>
          <a:prstGeom prst="rect">
            <a:avLst/>
          </a:prstGeom>
          <a:solidFill>
            <a:srgbClr val="EDEDED"/>
          </a:solidFill>
          <a:ln w="0">
            <a:noFill/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8058150" y="2343150"/>
            <a:ext cx="2667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2175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75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怎么解释这张图</a:t>
            </a:r>
            <a:endParaRPr sz="2175" b="1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8058150" y="3114675"/>
            <a:ext cx="85725" cy="85725"/>
          </a:xfrm>
          <a:prstGeom prst="rect">
            <a:avLst/>
          </a:prstGeom>
          <a:solidFill>
            <a:srgbClr val="FF6B35"/>
          </a:solidFill>
          <a:ln w="0">
            <a:noFill/>
            <a:prstDash val="solid"/>
          </a:ln>
        </p:spPr>
      </p:sp>
      <p:sp>
        <p:nvSpPr>
          <p:cNvPr id="9" name="矩形 8"/>
          <p:cNvSpPr>
            <a:spLocks noGrp="1"/>
          </p:cNvSpPr>
          <p:nvPr/>
        </p:nvSpPr>
        <p:spPr>
          <a:xfrm>
            <a:off x="8286750" y="3028950"/>
            <a:ext cx="25146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7329"/>
          </a:bodyPr>
          <a:lstStyle/>
          <a:p>
            <a:pPr algn="l">
              <a:buNone/>
              <a:defRPr sz="1425" b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425" b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NFA 编译轻，适合一次性短文本</a:t>
            </a:r>
            <a:endParaRPr sz="1425" b="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8058150" y="3590925"/>
            <a:ext cx="85725" cy="85725"/>
          </a:xfrm>
          <a:prstGeom prst="rect">
            <a:avLst/>
          </a:prstGeom>
          <a:solidFill>
            <a:srgbClr val="FF6B35"/>
          </a:solidFill>
          <a:ln w="0">
            <a:noFill/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8286750" y="3505200"/>
            <a:ext cx="25146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7697"/>
          </a:bodyPr>
          <a:lstStyle/>
          <a:p>
            <a:pPr algn="l">
              <a:buNone/>
              <a:defRPr sz="1425" b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425" b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DFA 匹配快，适合复用同一模式</a:t>
            </a:r>
            <a:endParaRPr sz="1425" b="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8058150" y="4067175"/>
            <a:ext cx="85725" cy="85725"/>
          </a:xfrm>
          <a:prstGeom prst="rect">
            <a:avLst/>
          </a:prstGeom>
          <a:solidFill>
            <a:srgbClr val="FF6B35"/>
          </a:solidFill>
          <a:ln w="0">
            <a:noFill/>
            <a:prstDash val="solid"/>
          </a:ln>
        </p:spPr>
      </p:sp>
      <p:sp>
        <p:nvSpPr>
          <p:cNvPr id="13" name="矩形 12"/>
          <p:cNvSpPr>
            <a:spLocks noGrp="1"/>
          </p:cNvSpPr>
          <p:nvPr/>
        </p:nvSpPr>
        <p:spPr>
          <a:xfrm>
            <a:off x="8286750" y="3981450"/>
            <a:ext cx="25146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491"/>
          </a:bodyPr>
          <a:lstStyle/>
          <a:p>
            <a:pPr algn="l">
              <a:buNone/>
              <a:defRPr sz="1425" b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425" b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最终报告仍标注 Windows clock() 的计时限制</a:t>
            </a:r>
            <a:endParaRPr sz="1425" b="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457200" y="5810250"/>
            <a:ext cx="8572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200" b="0">
                <a:solidFill>
                  <a:srgbClr val="55555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00" b="0">
                <a:solidFill>
                  <a:srgbClr val="55555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数据来源：docs/day11-performance-report.md，100000 次 Release 匹配。</a:t>
            </a:r>
            <a:endParaRPr sz="1200" b="0">
              <a:solidFill>
                <a:srgbClr val="55555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>
            <a:spLocks noGrp="1"/>
          </p:cNvSpPr>
          <p:nvPr/>
        </p:nvSpPr>
        <p:spPr>
          <a:xfrm>
            <a:off x="390525" y="342900"/>
            <a:ext cx="1038225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3450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3450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第十三天补齐了现场演示闭环</a:t>
            </a:r>
            <a:endParaRPr sz="3450" b="1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390525" y="1085850"/>
            <a:ext cx="88582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575" b="0">
                <a:solidFill>
                  <a:srgbClr val="55555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75" b="0">
                <a:solidFill>
                  <a:srgbClr val="55555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演示脚本把主要功能串成固定顺序，降低现场手动输入出错的风险。</a:t>
            </a:r>
            <a:endParaRPr sz="1575" b="0">
              <a:solidFill>
                <a:srgbClr val="55555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11277600" y="6276975"/>
            <a:ext cx="5143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b">
            <a:normAutofit/>
          </a:bodyPr>
          <a:lstStyle/>
          <a:p>
            <a:pPr algn="r">
              <a:buNone/>
              <a:defRPr sz="1125" b="0">
                <a:solidFill>
                  <a:srgbClr val="55555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0">
                <a:solidFill>
                  <a:srgbClr val="55555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10</a:t>
            </a:r>
            <a:endParaRPr sz="1125" b="0">
              <a:solidFill>
                <a:srgbClr val="55555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390525" y="1524000"/>
            <a:ext cx="11410950" cy="9525"/>
          </a:xfrm>
          <a:prstGeom prst="rect">
            <a:avLst/>
          </a:prstGeom>
          <a:solidFill>
            <a:srgbClr val="B8BCC4"/>
          </a:solidFill>
          <a:ln w="0">
            <a:noFill/>
            <a:prstDash val="solid"/>
          </a:ln>
        </p:spPr>
      </p:sp>
      <p:sp>
        <p:nvSpPr>
          <p:cNvPr id="6" name="矩形 5"/>
          <p:cNvSpPr>
            <a:spLocks noGrp="1"/>
          </p:cNvSpPr>
          <p:nvPr/>
        </p:nvSpPr>
        <p:spPr>
          <a:xfrm>
            <a:off x="457200" y="1885950"/>
            <a:ext cx="5048250" cy="3505200"/>
          </a:xfrm>
          <a:prstGeom prst="rect">
            <a:avLst/>
          </a:prstGeom>
          <a:solidFill>
            <a:srgbClr val="F7F7F7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742950" y="2152650"/>
            <a:ext cx="1905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2250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250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一键命令</a:t>
            </a:r>
            <a:endParaRPr sz="2250" b="1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742950" y="2952750"/>
            <a:ext cx="4286250" cy="952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875" b="0">
                <a:solidFill>
                  <a:srgbClr val="0000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875" b="0">
                <a:solidFill>
                  <a:srgbClr val="0000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powershell -ExecutionPolicy Bypass \</a:t>
            </a:r>
            <a:endParaRPr sz="1875" b="0">
              <a:solidFill>
                <a:srgbClr val="000000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 algn="l">
              <a:buNone/>
              <a:defRPr sz="1875" b="0">
                <a:solidFill>
                  <a:srgbClr val="0000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875" b="0">
                <a:solidFill>
                  <a:srgbClr val="0000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-File .\scripts\demo.ps1</a:t>
            </a:r>
            <a:endParaRPr sz="1875" b="0">
              <a:solidFill>
                <a:srgbClr val="000000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742950" y="4419600"/>
            <a:ext cx="3429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650" b="1">
                <a:solidFill>
                  <a:srgbClr val="FF6B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650" b="1">
                <a:solidFill>
                  <a:srgbClr val="FF6B3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输出目录：out/demo</a:t>
            </a:r>
            <a:endParaRPr sz="1650" b="1">
              <a:solidFill>
                <a:srgbClr val="FF6B3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6153150" y="1885950"/>
            <a:ext cx="5143500" cy="3505200"/>
          </a:xfrm>
          <a:prstGeom prst="rect">
            <a:avLst/>
          </a:prstGeom>
          <a:solidFill>
            <a:srgbClr val="EDEDED"/>
          </a:solidFill>
          <a:ln w="0">
            <a:noFill/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6438900" y="2152650"/>
            <a:ext cx="2476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2250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250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脚本展示顺序</a:t>
            </a:r>
            <a:endParaRPr sz="2250" b="1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6438900" y="2943225"/>
            <a:ext cx="85725" cy="85725"/>
          </a:xfrm>
          <a:prstGeom prst="rect">
            <a:avLst/>
          </a:prstGeom>
          <a:solidFill>
            <a:srgbClr val="FF6B35"/>
          </a:solidFill>
          <a:ln w="0">
            <a:noFill/>
            <a:prstDash val="solid"/>
          </a:ln>
        </p:spPr>
      </p:sp>
      <p:sp>
        <p:nvSpPr>
          <p:cNvPr id="13" name="矩形 12"/>
          <p:cNvSpPr>
            <a:spLocks noGrp="1"/>
          </p:cNvSpPr>
          <p:nvPr/>
        </p:nvSpPr>
        <p:spPr>
          <a:xfrm>
            <a:off x="6667500" y="2857500"/>
            <a:ext cx="38671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575" b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75" b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DFA 搜索和捕获组</a:t>
            </a:r>
            <a:endParaRPr sz="1575" b="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6438900" y="3409950"/>
            <a:ext cx="85725" cy="85725"/>
          </a:xfrm>
          <a:prstGeom prst="rect">
            <a:avLst/>
          </a:prstGeom>
          <a:solidFill>
            <a:srgbClr val="FF6B35"/>
          </a:solidFill>
          <a:ln w="0">
            <a:noFill/>
            <a:prstDash val="solid"/>
          </a:ln>
        </p:spPr>
      </p:sp>
      <p:sp>
        <p:nvSpPr>
          <p:cNvPr id="15" name="矩形 14"/>
          <p:cNvSpPr>
            <a:spLocks noGrp="1"/>
          </p:cNvSpPr>
          <p:nvPr/>
        </p:nvSpPr>
        <p:spPr>
          <a:xfrm>
            <a:off x="6667500" y="3324225"/>
            <a:ext cx="38671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575" b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75" b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token、AST、NFA、MinDFA dump</a:t>
            </a:r>
            <a:endParaRPr sz="1575" b="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6438900" y="3876675"/>
            <a:ext cx="85725" cy="85725"/>
          </a:xfrm>
          <a:prstGeom prst="rect">
            <a:avLst/>
          </a:prstGeom>
          <a:solidFill>
            <a:srgbClr val="FF6B35"/>
          </a:solidFill>
          <a:ln w="0">
            <a:noFill/>
            <a:prstDash val="solid"/>
          </a:ln>
        </p:spPr>
      </p:sp>
      <p:sp>
        <p:nvSpPr>
          <p:cNvPr id="17" name="矩形 16"/>
          <p:cNvSpPr>
            <a:spLocks noGrp="1"/>
          </p:cNvSpPr>
          <p:nvPr/>
        </p:nvSpPr>
        <p:spPr>
          <a:xfrm>
            <a:off x="6667500" y="3790950"/>
            <a:ext cx="38671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575" b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75" b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NFA 与 MinDFA 的 DOT 文件导出</a:t>
            </a:r>
            <a:endParaRPr sz="1575" b="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8" name="矩形 17"/>
          <p:cNvSpPr>
            <a:spLocks noGrp="1"/>
          </p:cNvSpPr>
          <p:nvPr/>
        </p:nvSpPr>
        <p:spPr>
          <a:xfrm>
            <a:off x="6438900" y="4343400"/>
            <a:ext cx="85725" cy="85725"/>
          </a:xfrm>
          <a:prstGeom prst="rect">
            <a:avLst/>
          </a:prstGeom>
          <a:solidFill>
            <a:srgbClr val="FF6B35"/>
          </a:solidFill>
          <a:ln w="0">
            <a:noFill/>
            <a:prstDash val="solid"/>
          </a:ln>
        </p:spPr>
      </p:sp>
      <p:sp>
        <p:nvSpPr>
          <p:cNvPr id="19" name="矩形 18"/>
          <p:cNvSpPr>
            <a:spLocks noGrp="1"/>
          </p:cNvSpPr>
          <p:nvPr/>
        </p:nvSpPr>
        <p:spPr>
          <a:xfrm>
            <a:off x="6667500" y="4257675"/>
            <a:ext cx="38671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575" b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75" b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benchmark 和 performance.csv 生成</a:t>
            </a:r>
            <a:endParaRPr sz="1575" b="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0" name="矩形 19"/>
          <p:cNvSpPr>
            <a:spLocks noGrp="1"/>
          </p:cNvSpPr>
          <p:nvPr/>
        </p:nvSpPr>
        <p:spPr>
          <a:xfrm>
            <a:off x="6438900" y="4810125"/>
            <a:ext cx="85725" cy="85725"/>
          </a:xfrm>
          <a:prstGeom prst="rect">
            <a:avLst/>
          </a:prstGeom>
          <a:solidFill>
            <a:srgbClr val="FF6B35"/>
          </a:solidFill>
          <a:ln w="0">
            <a:noFill/>
            <a:prstDash val="solid"/>
          </a:ln>
        </p:spPr>
      </p:sp>
      <p:sp>
        <p:nvSpPr>
          <p:cNvPr id="21" name="矩形 20"/>
          <p:cNvSpPr>
            <a:spLocks noGrp="1"/>
          </p:cNvSpPr>
          <p:nvPr/>
        </p:nvSpPr>
        <p:spPr>
          <a:xfrm>
            <a:off x="6667500" y="4724400"/>
            <a:ext cx="38671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575" b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75" b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检测 Graphviz，存在时自动渲染 PNG</a:t>
            </a:r>
            <a:endParaRPr sz="1575" b="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>
            <a:spLocks noGrp="1"/>
          </p:cNvSpPr>
          <p:nvPr/>
        </p:nvSpPr>
        <p:spPr>
          <a:xfrm>
            <a:off x="390525" y="342900"/>
            <a:ext cx="1038225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3450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3450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遇到的问题都变成了明确的工程取舍</a:t>
            </a:r>
            <a:endParaRPr sz="3450" b="1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390525" y="1085850"/>
            <a:ext cx="88582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575" b="0">
                <a:solidFill>
                  <a:srgbClr val="55555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75" b="0">
                <a:solidFill>
                  <a:srgbClr val="55555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汇报时可以重点讲原因、处理方式和当前限制。</a:t>
            </a:r>
            <a:endParaRPr sz="1575" b="0">
              <a:solidFill>
                <a:srgbClr val="55555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11277600" y="6276975"/>
            <a:ext cx="5143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b">
            <a:normAutofit/>
          </a:bodyPr>
          <a:lstStyle/>
          <a:p>
            <a:pPr algn="r">
              <a:buNone/>
              <a:defRPr sz="1125" b="0">
                <a:solidFill>
                  <a:srgbClr val="55555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0">
                <a:solidFill>
                  <a:srgbClr val="55555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11</a:t>
            </a:r>
            <a:endParaRPr sz="1125" b="0">
              <a:solidFill>
                <a:srgbClr val="55555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390525" y="1524000"/>
            <a:ext cx="11410950" cy="9525"/>
          </a:xfrm>
          <a:prstGeom prst="rect">
            <a:avLst/>
          </a:prstGeom>
          <a:solidFill>
            <a:srgbClr val="B8BCC4"/>
          </a:solidFill>
          <a:ln w="0">
            <a:noFill/>
            <a:prstDash val="solid"/>
          </a:ln>
        </p:spPr>
      </p:sp>
      <p:graphicFrame>
        <p:nvGraphicFramePr>
          <p:cNvPr id="10" name="表格 9"/>
          <p:cNvGraphicFramePr/>
          <p:nvPr/>
        </p:nvGraphicFramePr>
        <p:xfrm>
          <a:off x="457200" y="1885950"/>
          <a:ext cx="10858500" cy="3238500"/>
        </p:xfrm>
        <a:graphic>
          <a:graphicData uri="http://schemas.openxmlformats.org/drawingml/2006/table">
            <a:tbl>
              <a:tblPr/>
              <a:tblGrid>
                <a:gridCol w="3241343"/>
                <a:gridCol w="3241343"/>
                <a:gridCol w="4375813"/>
              </a:tblGrid>
              <a:tr h="647700"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FFFFFF"/>
                          </a:solidFill>
                        </a:rPr>
                        <a:t>问题</a:t>
                      </a:r>
                      <a:endParaRPr sz="1125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FFFFFF"/>
                          </a:solidFill>
                        </a:rPr>
                        <a:t>处理方式</a:t>
                      </a:r>
                      <a:endParaRPr sz="1125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FFFFFF"/>
                          </a:solidFill>
                        </a:rPr>
                        <a:t>汇报时的说法</a:t>
                      </a:r>
                      <a:endParaRPr sz="1125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000000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00000"/>
                          </a:solidFill>
                        </a:rPr>
                        <a:t>Windows 缺少 CMake/GCC</a:t>
                      </a:r>
                      <a:endParaRPr sz="1125">
                        <a:solidFill>
                          <a:srgbClr val="00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00000"/>
                          </a:solidFill>
                        </a:rPr>
                        <a:t>新增 build-msvc.ps1</a:t>
                      </a:r>
                      <a:endParaRPr sz="1125">
                        <a:solidFill>
                          <a:srgbClr val="00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00000"/>
                          </a:solidFill>
                        </a:rPr>
                        <a:t>先保证本机可构建、可测试、可演示</a:t>
                      </a:r>
                      <a:endParaRPr sz="1125">
                        <a:solidFill>
                          <a:srgbClr val="000000"/>
                        </a:solidFill>
                      </a:endParaRPr>
                    </a:p>
                  </a:txBody>
                  <a:tcPr/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00000"/>
                          </a:solidFill>
                        </a:rPr>
                        <a:t>Graphviz 未安装</a:t>
                      </a:r>
                      <a:endParaRPr sz="1125">
                        <a:solidFill>
                          <a:srgbClr val="00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00000"/>
                          </a:solidFill>
                        </a:rPr>
                        <a:t>先生成 .dot 文件</a:t>
                      </a:r>
                      <a:endParaRPr sz="1125">
                        <a:solidFill>
                          <a:srgbClr val="00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00000"/>
                          </a:solidFill>
                        </a:rPr>
                        <a:t>装好 Graphviz 后可直接渲染 PNG</a:t>
                      </a:r>
                      <a:endParaRPr sz="1125">
                        <a:solidFill>
                          <a:srgbClr val="000000"/>
                        </a:solidFill>
                      </a:endParaRPr>
                    </a:p>
                  </a:txBody>
                  <a:tcPr/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00000"/>
                          </a:solidFill>
                        </a:rPr>
                        <a:t>DFA 不天然保存捕获路径</a:t>
                      </a:r>
                      <a:endParaRPr sz="1125">
                        <a:solidFill>
                          <a:srgbClr val="00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00000"/>
                          </a:solidFill>
                        </a:rPr>
                        <a:t>DFA 定位整体区间，NFA 回填捕获组</a:t>
                      </a:r>
                      <a:endParaRPr sz="1125">
                        <a:solidFill>
                          <a:srgbClr val="00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00000"/>
                          </a:solidFill>
                        </a:rPr>
                        <a:t>兼顾 DFA 速度和捕获组正确性</a:t>
                      </a:r>
                      <a:endParaRPr sz="1125">
                        <a:solidFill>
                          <a:srgbClr val="000000"/>
                        </a:solidFill>
                      </a:endParaRPr>
                    </a:p>
                  </a:txBody>
                  <a:tcPr/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00000"/>
                          </a:solidFill>
                        </a:rPr>
                        <a:t>POSIX/Valgrind 依赖 Linux</a:t>
                      </a:r>
                      <a:endParaRPr sz="1125">
                        <a:solidFill>
                          <a:srgbClr val="00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00000"/>
                          </a:solidFill>
                        </a:rPr>
                        <a:t>CMake 保留条件入口</a:t>
                      </a:r>
                      <a:endParaRPr sz="1125">
                        <a:solidFill>
                          <a:srgbClr val="00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00000"/>
                          </a:solidFill>
                        </a:rPr>
                        <a:t>WSL/Linux 环境中补跑正式对照</a:t>
                      </a:r>
                      <a:endParaRPr sz="1125">
                        <a:solidFill>
                          <a:srgbClr val="000000"/>
                        </a:solidFill>
                      </a:endParaRP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>
            <a:spLocks noGrp="1"/>
          </p:cNvSpPr>
          <p:nvPr/>
        </p:nvSpPr>
        <p:spPr>
          <a:xfrm>
            <a:off x="390525" y="342900"/>
            <a:ext cx="1038225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3450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3450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最终交付物覆盖代码、文档、工具和演示</a:t>
            </a:r>
            <a:endParaRPr sz="3450" b="1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390525" y="1085850"/>
            <a:ext cx="88582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575" b="0">
                <a:solidFill>
                  <a:srgbClr val="55555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75" b="0">
                <a:solidFill>
                  <a:srgbClr val="55555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第十四天可以把项目状态定位为：功能完成，等待外部 Linux 工具补充正式环境报告。</a:t>
            </a:r>
            <a:endParaRPr sz="1575" b="0">
              <a:solidFill>
                <a:srgbClr val="55555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11277600" y="6276975"/>
            <a:ext cx="5143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b">
            <a:normAutofit/>
          </a:bodyPr>
          <a:lstStyle/>
          <a:p>
            <a:pPr algn="r">
              <a:buNone/>
              <a:defRPr sz="1125" b="0">
                <a:solidFill>
                  <a:srgbClr val="55555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0">
                <a:solidFill>
                  <a:srgbClr val="55555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12</a:t>
            </a:r>
            <a:endParaRPr sz="1125" b="0">
              <a:solidFill>
                <a:srgbClr val="55555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390525" y="1524000"/>
            <a:ext cx="11410950" cy="9525"/>
          </a:xfrm>
          <a:prstGeom prst="rect">
            <a:avLst/>
          </a:prstGeom>
          <a:solidFill>
            <a:srgbClr val="B8BCC4"/>
          </a:solidFill>
          <a:ln w="0">
            <a:noFill/>
            <a:prstDash val="solid"/>
          </a:ln>
        </p:spPr>
      </p:sp>
      <p:sp>
        <p:nvSpPr>
          <p:cNvPr id="6" name="矩形 5"/>
          <p:cNvSpPr>
            <a:spLocks noGrp="1"/>
          </p:cNvSpPr>
          <p:nvPr/>
        </p:nvSpPr>
        <p:spPr>
          <a:xfrm>
            <a:off x="552450" y="2085975"/>
            <a:ext cx="85725" cy="85725"/>
          </a:xfrm>
          <a:prstGeom prst="rect">
            <a:avLst/>
          </a:prstGeom>
          <a:solidFill>
            <a:srgbClr val="FF6B35"/>
          </a:solidFill>
          <a:ln w="0">
            <a:noFill/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781050" y="2000250"/>
            <a:ext cx="78676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354"/>
          </a:bodyPr>
          <a:lstStyle/>
          <a:p>
            <a:pPr algn="l">
              <a:buNone/>
              <a:defRPr sz="1725" b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725" b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核心代码：charset、lexer、parser、AST、NFA、DFA、MinDFA、DOT、统一 API</a:t>
            </a:r>
            <a:endParaRPr sz="1725" b="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552450" y="2590800"/>
            <a:ext cx="85725" cy="85725"/>
          </a:xfrm>
          <a:prstGeom prst="rect">
            <a:avLst/>
          </a:prstGeom>
          <a:solidFill>
            <a:srgbClr val="FF6B35"/>
          </a:solidFill>
          <a:ln w="0">
            <a:noFill/>
            <a:prstDash val="solid"/>
          </a:ln>
        </p:spPr>
      </p:sp>
      <p:sp>
        <p:nvSpPr>
          <p:cNvPr id="9" name="矩形 8"/>
          <p:cNvSpPr>
            <a:spLocks noGrp="1"/>
          </p:cNvSpPr>
          <p:nvPr/>
        </p:nvSpPr>
        <p:spPr>
          <a:xfrm>
            <a:off x="781050" y="2505075"/>
            <a:ext cx="78676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725" b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725" b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测试代码：单元测试、压力测试、一致性测试、DOT 结构测试</a:t>
            </a:r>
            <a:endParaRPr sz="1725" b="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552450" y="3095625"/>
            <a:ext cx="85725" cy="85725"/>
          </a:xfrm>
          <a:prstGeom prst="rect">
            <a:avLst/>
          </a:prstGeom>
          <a:solidFill>
            <a:srgbClr val="FF6B35"/>
          </a:solidFill>
          <a:ln w="0">
            <a:noFill/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781050" y="3009900"/>
            <a:ext cx="78676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725" b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725" b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命令行工具：rx_cli、rx_dump_*、rx_bench、rx_dump_dot</a:t>
            </a:r>
            <a:endParaRPr sz="1725" b="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552450" y="3600450"/>
            <a:ext cx="85725" cy="85725"/>
          </a:xfrm>
          <a:prstGeom prst="rect">
            <a:avLst/>
          </a:prstGeom>
          <a:solidFill>
            <a:srgbClr val="FF6B35"/>
          </a:solidFill>
          <a:ln w="0">
            <a:noFill/>
            <a:prstDash val="solid"/>
          </a:ln>
        </p:spPr>
      </p:sp>
      <p:sp>
        <p:nvSpPr>
          <p:cNvPr id="13" name="矩形 12"/>
          <p:cNvSpPr>
            <a:spLocks noGrp="1"/>
          </p:cNvSpPr>
          <p:nvPr/>
        </p:nvSpPr>
        <p:spPr>
          <a:xfrm>
            <a:off x="781050" y="3514725"/>
            <a:ext cx="78676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725" b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725" b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文档材料：系统设计文档、每日进度、性能报告、审计记录、最终 PPT</a:t>
            </a:r>
            <a:endParaRPr sz="1725" b="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552450" y="4105275"/>
            <a:ext cx="85725" cy="85725"/>
          </a:xfrm>
          <a:prstGeom prst="rect">
            <a:avLst/>
          </a:prstGeom>
          <a:solidFill>
            <a:srgbClr val="FF6B35"/>
          </a:solidFill>
          <a:ln w="0">
            <a:noFill/>
            <a:prstDash val="solid"/>
          </a:ln>
        </p:spPr>
      </p:sp>
      <p:sp>
        <p:nvSpPr>
          <p:cNvPr id="15" name="矩形 14"/>
          <p:cNvSpPr>
            <a:spLocks noGrp="1"/>
          </p:cNvSpPr>
          <p:nvPr/>
        </p:nvSpPr>
        <p:spPr>
          <a:xfrm>
            <a:off x="781050" y="4019550"/>
            <a:ext cx="78676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725" b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725" b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演示材料：scripts/demo.ps1 和 out/demo 生成产物</a:t>
            </a:r>
            <a:endParaRPr sz="1725" b="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9010650" y="2038350"/>
            <a:ext cx="2305050" cy="2400300"/>
          </a:xfrm>
          <a:prstGeom prst="rect">
            <a:avLst/>
          </a:prstGeom>
          <a:solidFill>
            <a:srgbClr val="EDEDED"/>
          </a:solidFill>
          <a:ln w="0">
            <a:noFill/>
            <a:prstDash val="solid"/>
          </a:ln>
        </p:spPr>
      </p:sp>
      <p:sp>
        <p:nvSpPr>
          <p:cNvPr id="17" name="矩形 16"/>
          <p:cNvSpPr>
            <a:spLocks noGrp="1"/>
          </p:cNvSpPr>
          <p:nvPr/>
        </p:nvSpPr>
        <p:spPr>
          <a:xfrm>
            <a:off x="9277350" y="2343150"/>
            <a:ext cx="16192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2175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175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现场收尾</a:t>
            </a:r>
            <a:endParaRPr sz="2175" b="1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8" name="矩形 17"/>
          <p:cNvSpPr>
            <a:spLocks noGrp="1"/>
          </p:cNvSpPr>
          <p:nvPr/>
        </p:nvSpPr>
        <p:spPr>
          <a:xfrm>
            <a:off x="9277350" y="2990850"/>
            <a:ext cx="1619250" cy="1181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939"/>
          </a:bodyPr>
          <a:lstStyle/>
          <a:p>
            <a:pPr algn="l">
              <a:buNone/>
              <a:defRPr sz="1650" b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650" b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运行 demo.ps1</a:t>
            </a:r>
            <a:endParaRPr sz="1650" b="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buNone/>
              <a:defRPr sz="1650" b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650" b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展示输出</a:t>
            </a:r>
            <a:endParaRPr sz="1650" b="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buNone/>
              <a:defRPr sz="1650" b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650" b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打开 out/demo</a:t>
            </a:r>
            <a:endParaRPr sz="1650" b="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buNone/>
              <a:defRPr sz="1650" b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650" b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说明限制</a:t>
            </a:r>
            <a:endParaRPr sz="1650" b="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buNone/>
              <a:defRPr sz="1650" b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650" b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回答问题</a:t>
            </a:r>
            <a:endParaRPr sz="1650" b="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9" name="矩形 18"/>
          <p:cNvSpPr>
            <a:spLocks noGrp="1"/>
          </p:cNvSpPr>
          <p:nvPr/>
        </p:nvSpPr>
        <p:spPr>
          <a:xfrm>
            <a:off x="552450" y="5581650"/>
            <a:ext cx="87630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buNone/>
              <a:defRPr sz="1950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950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一句话总结：这是一个已实现、已测试、可演示的教学型正则表达式引擎。</a:t>
            </a:r>
            <a:endParaRPr sz="1950" b="1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>
            <a:spLocks noGrp="1"/>
          </p:cNvSpPr>
          <p:nvPr/>
        </p:nvSpPr>
        <p:spPr>
          <a:xfrm>
            <a:off x="390525" y="342900"/>
            <a:ext cx="10668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3000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3000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成员分工依据 GitHub Desktop 提交记录整理</a:t>
            </a:r>
            <a:endParaRPr sz="3000" b="1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390525" y="990600"/>
            <a:ext cx="9334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1500" b="0">
                <a:solidFill>
                  <a:srgbClr val="55555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0">
                <a:solidFill>
                  <a:srgbClr val="55555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结合提交作者、提交说明和变更文件归纳，两位成员的工作边界比较清晰。</a:t>
            </a:r>
            <a:endParaRPr sz="1500" b="0">
              <a:solidFill>
                <a:srgbClr val="55555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390525" y="1524000"/>
            <a:ext cx="11401425" cy="9525"/>
          </a:xfrm>
          <a:prstGeom prst="rect">
            <a:avLst/>
          </a:prstGeom>
          <a:solidFill>
            <a:srgbClr val="B8BCC4"/>
          </a:solidFill>
          <a:ln w="0">
            <a:noFill/>
            <a:prstDash val="solid"/>
          </a:ln>
        </p:spPr>
      </p:sp>
      <p:sp>
        <p:nvSpPr>
          <p:cNvPr id="5" name="矩形 4"/>
          <p:cNvSpPr>
            <a:spLocks noGrp="1"/>
          </p:cNvSpPr>
          <p:nvPr/>
        </p:nvSpPr>
        <p:spPr>
          <a:xfrm>
            <a:off x="457200" y="1885950"/>
            <a:ext cx="5143500" cy="3429000"/>
          </a:xfrm>
          <a:prstGeom prst="rect">
            <a:avLst/>
          </a:prstGeom>
          <a:solidFill>
            <a:srgbClr val="EDEDED"/>
          </a:solidFill>
          <a:ln w="0">
            <a:noFill/>
            <a:prstDash val="solid"/>
          </a:ln>
        </p:spPr>
      </p:sp>
      <p:sp>
        <p:nvSpPr>
          <p:cNvPr id="6" name="矩形 5"/>
          <p:cNvSpPr>
            <a:spLocks noGrp="1"/>
          </p:cNvSpPr>
          <p:nvPr/>
        </p:nvSpPr>
        <p:spPr>
          <a:xfrm>
            <a:off x="723900" y="2133600"/>
            <a:ext cx="1905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78889"/>
          </a:bodyPr>
          <a:lstStyle/>
          <a:p>
            <a:pPr algn="l">
              <a:defRPr sz="2250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250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谢鑫</a:t>
            </a:r>
            <a:endParaRPr sz="2250" b="1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723900" y="2819400"/>
            <a:ext cx="95250" cy="95250"/>
          </a:xfrm>
          <a:prstGeom prst="rect">
            <a:avLst/>
          </a:prstGeom>
          <a:solidFill>
            <a:srgbClr val="FF6B35"/>
          </a:solidFill>
          <a:ln w="0">
            <a:noFill/>
            <a:prstDash val="solid"/>
          </a:ln>
        </p:spPr>
      </p:sp>
      <p:sp>
        <p:nvSpPr>
          <p:cNvPr id="8" name="矩形 7"/>
          <p:cNvSpPr>
            <a:spLocks noGrp="1"/>
          </p:cNvSpPr>
          <p:nvPr/>
        </p:nvSpPr>
        <p:spPr>
          <a:xfrm>
            <a:off x="952500" y="2724150"/>
            <a:ext cx="42481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1500" b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负责整体工程主线与最终收尾。</a:t>
            </a:r>
            <a:endParaRPr sz="1500" b="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723900" y="3371850"/>
            <a:ext cx="95250" cy="95250"/>
          </a:xfrm>
          <a:prstGeom prst="rect">
            <a:avLst/>
          </a:prstGeom>
          <a:solidFill>
            <a:srgbClr val="FF6B35"/>
          </a:solidFill>
          <a:ln w="0">
            <a:noFill/>
            <a:prstDash val="solid"/>
          </a:ln>
        </p:spPr>
      </p:sp>
      <p:sp>
        <p:nvSpPr>
          <p:cNvPr id="10" name="矩形 9"/>
          <p:cNvSpPr>
            <a:spLocks noGrp="1"/>
          </p:cNvSpPr>
          <p:nvPr/>
        </p:nvSpPr>
        <p:spPr>
          <a:xfrm>
            <a:off x="952500" y="3276600"/>
            <a:ext cx="42481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8333"/>
          </a:bodyPr>
          <a:lstStyle/>
          <a:p>
            <a:pPr algn="l">
              <a:defRPr sz="1500" b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完成 lexer、parser、AST、DFA、MinDFA 和统一 API。</a:t>
            </a:r>
            <a:endParaRPr sz="1500" b="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723900" y="3924300"/>
            <a:ext cx="95250" cy="95250"/>
          </a:xfrm>
          <a:prstGeom prst="rect">
            <a:avLst/>
          </a:prstGeom>
          <a:solidFill>
            <a:srgbClr val="FF6B35"/>
          </a:solidFill>
          <a:ln w="0">
            <a:noFill/>
            <a:prstDash val="solid"/>
          </a:ln>
        </p:spPr>
      </p:sp>
      <p:sp>
        <p:nvSpPr>
          <p:cNvPr id="12" name="矩形 11"/>
          <p:cNvSpPr>
            <a:spLocks noGrp="1"/>
          </p:cNvSpPr>
          <p:nvPr/>
        </p:nvSpPr>
        <p:spPr>
          <a:xfrm>
            <a:off x="952500" y="3829050"/>
            <a:ext cx="42481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8333"/>
          </a:bodyPr>
          <a:lstStyle/>
          <a:p>
            <a:pPr algn="l">
              <a:defRPr sz="1500" b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补充压力测试、benchmark、DOT 可视化、Windows 构建脚本和 demo.ps1。</a:t>
            </a:r>
            <a:endParaRPr sz="1500" b="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723900" y="4476750"/>
            <a:ext cx="95250" cy="95250"/>
          </a:xfrm>
          <a:prstGeom prst="rect">
            <a:avLst/>
          </a:prstGeom>
          <a:solidFill>
            <a:srgbClr val="FF6B35"/>
          </a:solidFill>
          <a:ln w="0">
            <a:noFill/>
            <a:prstDash val="solid"/>
          </a:ln>
        </p:spPr>
      </p:sp>
      <p:sp>
        <p:nvSpPr>
          <p:cNvPr id="14" name="矩形 13"/>
          <p:cNvSpPr>
            <a:spLocks noGrp="1"/>
          </p:cNvSpPr>
          <p:nvPr/>
        </p:nvSpPr>
        <p:spPr>
          <a:xfrm>
            <a:off x="952500" y="4381500"/>
            <a:ext cx="42481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8333"/>
          </a:bodyPr>
          <a:lstStyle/>
          <a:p>
            <a:pPr algn="l">
              <a:defRPr sz="1500" b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整理最终答辩 PPT、最终汇报材料和第 13～14 天收尾内容。</a:t>
            </a:r>
            <a:endParaRPr sz="1500" b="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5" name="矩形 14"/>
          <p:cNvSpPr>
            <a:spLocks noGrp="1"/>
          </p:cNvSpPr>
          <p:nvPr/>
        </p:nvSpPr>
        <p:spPr>
          <a:xfrm>
            <a:off x="6172200" y="1885950"/>
            <a:ext cx="5143500" cy="3429000"/>
          </a:xfrm>
          <a:prstGeom prst="rect">
            <a:avLst/>
          </a:prstGeom>
          <a:solidFill>
            <a:srgbClr val="F4F4F4"/>
          </a:solidFill>
          <a:ln w="9525">
            <a:solidFill>
              <a:srgbClr val="B8BCC4"/>
            </a:solidFill>
            <a:prstDash val="solid"/>
          </a:ln>
        </p:spPr>
      </p:sp>
      <p:sp>
        <p:nvSpPr>
          <p:cNvPr id="16" name="矩形 15"/>
          <p:cNvSpPr>
            <a:spLocks noGrp="1"/>
          </p:cNvSpPr>
          <p:nvPr/>
        </p:nvSpPr>
        <p:spPr>
          <a:xfrm>
            <a:off x="6438900" y="2133600"/>
            <a:ext cx="1905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78889"/>
          </a:bodyPr>
          <a:lstStyle/>
          <a:p>
            <a:pPr algn="l">
              <a:defRPr sz="2250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250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余景康</a:t>
            </a:r>
            <a:endParaRPr sz="2250" b="1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6438900" y="2819400"/>
            <a:ext cx="95250" cy="95250"/>
          </a:xfrm>
          <a:prstGeom prst="rect">
            <a:avLst/>
          </a:prstGeom>
          <a:solidFill>
            <a:srgbClr val="FF6B35"/>
          </a:solidFill>
          <a:ln w="0">
            <a:noFill/>
            <a:prstDash val="solid"/>
          </a:ln>
        </p:spPr>
      </p:sp>
      <p:sp>
        <p:nvSpPr>
          <p:cNvPr id="18" name="矩形 17"/>
          <p:cNvSpPr>
            <a:spLocks noGrp="1"/>
          </p:cNvSpPr>
          <p:nvPr/>
        </p:nvSpPr>
        <p:spPr>
          <a:xfrm>
            <a:off x="6667500" y="2724150"/>
            <a:ext cx="42481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defRPr sz="1500" b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补充题目设计文档和系统设计文档。</a:t>
            </a:r>
            <a:endParaRPr sz="1500" b="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9" name="矩形 18"/>
          <p:cNvSpPr>
            <a:spLocks noGrp="1"/>
          </p:cNvSpPr>
          <p:nvPr/>
        </p:nvSpPr>
        <p:spPr>
          <a:xfrm>
            <a:off x="6438900" y="3371850"/>
            <a:ext cx="95250" cy="95250"/>
          </a:xfrm>
          <a:prstGeom prst="rect">
            <a:avLst/>
          </a:prstGeom>
          <a:solidFill>
            <a:srgbClr val="FF6B35"/>
          </a:solidFill>
          <a:ln w="0">
            <a:noFill/>
            <a:prstDash val="solid"/>
          </a:ln>
        </p:spPr>
      </p:sp>
      <p:sp>
        <p:nvSpPr>
          <p:cNvPr id="20" name="矩形 19"/>
          <p:cNvSpPr>
            <a:spLocks noGrp="1"/>
          </p:cNvSpPr>
          <p:nvPr/>
        </p:nvSpPr>
        <p:spPr>
          <a:xfrm>
            <a:off x="6667500" y="3276600"/>
            <a:ext cx="42481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8333"/>
          </a:bodyPr>
          <a:lstStyle/>
          <a:p>
            <a:pPr algn="l">
              <a:defRPr sz="1500" b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完成 NFA 与 matcher 逻辑拆分，支持捕获组位置返回。</a:t>
            </a:r>
            <a:endParaRPr sz="1500" b="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1" name="矩形 20"/>
          <p:cNvSpPr>
            <a:spLocks noGrp="1"/>
          </p:cNvSpPr>
          <p:nvPr/>
        </p:nvSpPr>
        <p:spPr>
          <a:xfrm>
            <a:off x="6438900" y="3924300"/>
            <a:ext cx="95250" cy="95250"/>
          </a:xfrm>
          <a:prstGeom prst="rect">
            <a:avLst/>
          </a:prstGeom>
          <a:solidFill>
            <a:srgbClr val="FF6B35"/>
          </a:solidFill>
          <a:ln w="0">
            <a:noFill/>
            <a:prstDash val="solid"/>
          </a:ln>
        </p:spPr>
      </p:sp>
      <p:sp>
        <p:nvSpPr>
          <p:cNvPr id="22" name="矩形 21"/>
          <p:cNvSpPr>
            <a:spLocks noGrp="1"/>
          </p:cNvSpPr>
          <p:nvPr/>
        </p:nvSpPr>
        <p:spPr>
          <a:xfrm>
            <a:off x="6667500" y="3829050"/>
            <a:ext cx="42481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8333"/>
          </a:bodyPr>
          <a:lstStyle/>
          <a:p>
            <a:pPr algn="l">
              <a:defRPr sz="1500" b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补充转义序列 \D、\W、\S，维护 README 和阶段进度。</a:t>
            </a:r>
            <a:endParaRPr sz="1500" b="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3" name="矩形 22"/>
          <p:cNvSpPr>
            <a:spLocks noGrp="1"/>
          </p:cNvSpPr>
          <p:nvPr/>
        </p:nvSpPr>
        <p:spPr>
          <a:xfrm>
            <a:off x="6438900" y="4476750"/>
            <a:ext cx="95250" cy="95250"/>
          </a:xfrm>
          <a:prstGeom prst="rect">
            <a:avLst/>
          </a:prstGeom>
          <a:solidFill>
            <a:srgbClr val="FF6B35"/>
          </a:solidFill>
          <a:ln w="0">
            <a:noFill/>
            <a:prstDash val="solid"/>
          </a:ln>
        </p:spPr>
      </p:sp>
      <p:sp>
        <p:nvSpPr>
          <p:cNvPr id="24" name="矩形 23"/>
          <p:cNvSpPr>
            <a:spLocks noGrp="1"/>
          </p:cNvSpPr>
          <p:nvPr/>
        </p:nvSpPr>
        <p:spPr>
          <a:xfrm>
            <a:off x="6667500" y="4381500"/>
            <a:ext cx="42481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8333"/>
          </a:bodyPr>
          <a:lstStyle/>
          <a:p>
            <a:pPr algn="l">
              <a:defRPr sz="1500" b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00" b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配置 VS Code 调试/任务环境，并更新过汇报文档与 PPT。</a:t>
            </a:r>
            <a:endParaRPr sz="1500" b="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5" name="矩形 24"/>
          <p:cNvSpPr>
            <a:spLocks noGrp="1"/>
          </p:cNvSpPr>
          <p:nvPr/>
        </p:nvSpPr>
        <p:spPr>
          <a:xfrm>
            <a:off x="457200" y="5638800"/>
            <a:ext cx="10858500" cy="800100"/>
          </a:xfrm>
          <a:prstGeom prst="rect">
            <a:avLst/>
          </a:prstGeom>
          <a:solidFill>
            <a:srgbClr val="EDEDED"/>
          </a:solidFill>
          <a:ln w="0">
            <a:noFill/>
            <a:prstDash val="solid"/>
          </a:ln>
        </p:spPr>
      </p:sp>
      <p:sp>
        <p:nvSpPr>
          <p:cNvPr id="26" name="矩形 25"/>
          <p:cNvSpPr>
            <a:spLocks noGrp="1"/>
          </p:cNvSpPr>
          <p:nvPr/>
        </p:nvSpPr>
        <p:spPr>
          <a:xfrm>
            <a:off x="685800" y="5886450"/>
            <a:ext cx="10382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70833"/>
          </a:bodyPr>
          <a:lstStyle/>
          <a:p>
            <a:pPr algn="l">
              <a:defRPr sz="1800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800" b="1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共同完成：需求分析、阶段联调、功能验证、现场演示准备，以及最终答辩材料整合。</a:t>
            </a:r>
            <a:endParaRPr sz="1800" b="1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7" name="矩形 26"/>
          <p:cNvSpPr>
            <a:spLocks noGrp="1"/>
          </p:cNvSpPr>
          <p:nvPr/>
        </p:nvSpPr>
        <p:spPr>
          <a:xfrm>
            <a:off x="11277600" y="6276975"/>
            <a:ext cx="5143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b">
            <a:normAutofit fontScale="85556"/>
          </a:bodyPr>
          <a:lstStyle/>
          <a:p>
            <a:pPr algn="r">
              <a:defRPr sz="1125" b="0">
                <a:solidFill>
                  <a:srgbClr val="55555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125" b="0">
                <a:solidFill>
                  <a:srgbClr val="55555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13</a:t>
            </a:r>
            <a:endParaRPr sz="1125" b="0">
              <a:solidFill>
                <a:srgbClr val="55555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3420</Words>
  <Application>WPS 演示</Application>
  <PresentationFormat>Converted Presentation</PresentationFormat>
  <Paragraphs>421</Paragraphs>
  <Slides>13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13</vt:i4>
      </vt:variant>
    </vt:vector>
  </HeadingPairs>
  <TitlesOfParts>
    <vt:vector size="21" baseType="lpstr">
      <vt:lpstr>Arial</vt:lpstr>
      <vt:lpstr>宋体</vt:lpstr>
      <vt:lpstr>Wingdings</vt:lpstr>
      <vt:lpstr>微软雅黑</vt:lpstr>
      <vt:lpstr>Consolas</vt:lpstr>
      <vt:lpstr>Calibri</vt:lpstr>
      <vt:lpstr>Arial Unicode MS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WPS_1598188307</cp:lastModifiedBy>
  <cp:revision>1</cp:revision>
  <dcterms:created xsi:type="dcterms:W3CDTF">2026-07-09T17:24:23Z</dcterms:created>
  <dcterms:modified xsi:type="dcterms:W3CDTF">2026-07-09T17:24:23Z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3D4508FA137E4BAD8FF3A9F5893D30F6_12</vt:lpwstr>
  </property>
  <property fmtid="{D5CDD505-2E9C-101B-9397-08002B2CF9AE}" pid="3" name="KSOProductBuildVer">
    <vt:lpwstr>2052-12.1.0.26895</vt:lpwstr>
  </property>
</Properties>
</file>